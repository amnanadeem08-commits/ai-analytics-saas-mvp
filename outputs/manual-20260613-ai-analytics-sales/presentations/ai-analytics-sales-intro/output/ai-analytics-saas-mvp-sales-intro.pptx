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79802098c47aa" /><Relationship Type="http://schemas.openxmlformats.org/officeDocument/2006/relationships/extended-properties" Target="/docProps/app.xml" Id="Red0df45087144ac5" /><Relationship Type="http://schemas.openxmlformats.org/officeDocument/2006/relationships/officeDocument" Target="/ppt/presentation.xml" Id="R0d2f54f7c7364c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46324acca5444c"/>
  </p:sldMasterIdLst>
  <p:notesMasterIdLst>
    <p:notesMasterId xmlns:r="http://schemas.openxmlformats.org/officeDocument/2006/relationships" r:id="R2936ea2b7b05416f"/>
  </p:notesMasterIdLst>
  <p:sldIdLst>
    <p:sldId xmlns:r="http://schemas.openxmlformats.org/officeDocument/2006/relationships" id="256" r:id="R73eead0e0f264b0b"/>
    <p:sldId xmlns:r="http://schemas.openxmlformats.org/officeDocument/2006/relationships" id="257" r:id="R6d3fb0cddfd24ffd"/>
    <p:sldId xmlns:r="http://schemas.openxmlformats.org/officeDocument/2006/relationships" id="258" r:id="Rac9e21aee15b41c7"/>
    <p:sldId xmlns:r="http://schemas.openxmlformats.org/officeDocument/2006/relationships" id="259" r:id="R2fb1b8f03b3d49d2"/>
    <p:sldId xmlns:r="http://schemas.openxmlformats.org/officeDocument/2006/relationships" id="260" r:id="R3edab3b4dc7c476c"/>
    <p:sldId xmlns:r="http://schemas.openxmlformats.org/officeDocument/2006/relationships" id="261" r:id="R044c35ac412a4c13"/>
    <p:sldId xmlns:r="http://schemas.openxmlformats.org/officeDocument/2006/relationships" id="262" r:id="R9de051fe96c148f0"/>
    <p:sldId xmlns:r="http://schemas.openxmlformats.org/officeDocument/2006/relationships" id="263" r:id="R9a29b205e34a4636"/>
    <p:sldId xmlns:r="http://schemas.openxmlformats.org/officeDocument/2006/relationships" id="264" r:id="Ra6e0bff9e16540cf"/>
    <p:sldId xmlns:r="http://schemas.openxmlformats.org/officeDocument/2006/relationships" id="265" r:id="Rb137804c45aa493f"/>
    <p:sldId xmlns:r="http://schemas.openxmlformats.org/officeDocument/2006/relationships" id="266" r:id="Rdc5491cd907e41d4"/>
    <p:sldId xmlns:r="http://schemas.openxmlformats.org/officeDocument/2006/relationships" id="267" r:id="R108a2da882f240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4ad581ea8a4bb5" /><Relationship Type="http://schemas.openxmlformats.org/officeDocument/2006/relationships/slideMaster" Target="/ppt/slideMasters/slideMaster1.xml" Id="R0946324acca5444c" /><Relationship Type="http://schemas.openxmlformats.org/officeDocument/2006/relationships/notesMaster" Target="/ppt/notesMasters/notesMaster1.xml" Id="R2936ea2b7b05416f" /><Relationship Type="http://schemas.openxmlformats.org/officeDocument/2006/relationships/presProps" Target="/ppt/presProps.xml" Id="R9d6d88b887fa423a" /><Relationship Type="http://schemas.openxmlformats.org/officeDocument/2006/relationships/viewProps" Target="/ppt/viewProps.xml" Id="R60d5d649e50840b4" /><Relationship Type="http://schemas.openxmlformats.org/officeDocument/2006/relationships/tableStyles" Target="/ppt/tableStyles.xml" Id="Rafacf42f26044d3d" /><Relationship Type="http://schemas.openxmlformats.org/officeDocument/2006/relationships/slide" Target="/ppt/slides/slide1.xml" Id="R73eead0e0f264b0b" /><Relationship Type="http://schemas.openxmlformats.org/officeDocument/2006/relationships/slide" Target="/ppt/slides/slide2.xml" Id="R6d3fb0cddfd24ffd" /><Relationship Type="http://schemas.openxmlformats.org/officeDocument/2006/relationships/slide" Target="/ppt/slides/slide3.xml" Id="Rac9e21aee15b41c7" /><Relationship Type="http://schemas.openxmlformats.org/officeDocument/2006/relationships/slide" Target="/ppt/slides/slide4.xml" Id="R2fb1b8f03b3d49d2" /><Relationship Type="http://schemas.openxmlformats.org/officeDocument/2006/relationships/slide" Target="/ppt/slides/slide5.xml" Id="R3edab3b4dc7c476c" /><Relationship Type="http://schemas.openxmlformats.org/officeDocument/2006/relationships/slide" Target="/ppt/slides/slide6.xml" Id="R044c35ac412a4c13" /><Relationship Type="http://schemas.openxmlformats.org/officeDocument/2006/relationships/slide" Target="/ppt/slides/slide7.xml" Id="R9de051fe96c148f0" /><Relationship Type="http://schemas.openxmlformats.org/officeDocument/2006/relationships/slide" Target="/ppt/slides/slide8.xml" Id="R9a29b205e34a4636" /><Relationship Type="http://schemas.openxmlformats.org/officeDocument/2006/relationships/slide" Target="/ppt/slides/slide9.xml" Id="Ra6e0bff9e16540cf" /><Relationship Type="http://schemas.openxmlformats.org/officeDocument/2006/relationships/slide" Target="/ppt/slides/slide10.xml" Id="Rb137804c45aa493f" /><Relationship Type="http://schemas.openxmlformats.org/officeDocument/2006/relationships/slide" Target="/ppt/slides/slide11.xml" Id="Rdc5491cd907e41d4" /><Relationship Type="http://schemas.openxmlformats.org/officeDocument/2006/relationships/slide" Target="/ppt/slides/slide12.xml" Id="R108a2da882f240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40ffbf6f5f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b94b129cdd4292" /><Relationship Type="http://schemas.openxmlformats.org/officeDocument/2006/relationships/notesMaster" Target="/ppt/notesMasters/notesMaster1.xml" Id="Re6814510224f46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fdeba0016d42f2" /><Relationship Type="http://schemas.openxmlformats.org/officeDocument/2006/relationships/notesMaster" Target="/ppt/notesMasters/notesMaster1.xml" Id="R026e5a12157442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0fd67ed4da4c7e" /><Relationship Type="http://schemas.openxmlformats.org/officeDocument/2006/relationships/notesMaster" Target="/ppt/notesMasters/notesMaster1.xml" Id="Rf34ee40afeae4c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6b556d3f934c6a" /><Relationship Type="http://schemas.openxmlformats.org/officeDocument/2006/relationships/notesMaster" Target="/ppt/notesMasters/notesMaster1.xml" Id="R2f7651375d8e40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9df2be2f2f4348" /><Relationship Type="http://schemas.openxmlformats.org/officeDocument/2006/relationships/notesMaster" Target="/ppt/notesMasters/notesMaster1.xml" Id="R87080272c3fb46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b6c02bd3aa4a5f" /><Relationship Type="http://schemas.openxmlformats.org/officeDocument/2006/relationships/notesMaster" Target="/ppt/notesMasters/notesMaster1.xml" Id="Rb66b13040a2e41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1ae6846bac482a" /><Relationship Type="http://schemas.openxmlformats.org/officeDocument/2006/relationships/notesMaster" Target="/ppt/notesMasters/notesMaster1.xml" Id="R0d3a65bec3df4b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fecfd62a0b49d5" /><Relationship Type="http://schemas.openxmlformats.org/officeDocument/2006/relationships/notesMaster" Target="/ppt/notesMasters/notesMaster1.xml" Id="R7e31a1f943954b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fd31ef905c4218" /><Relationship Type="http://schemas.openxmlformats.org/officeDocument/2006/relationships/notesMaster" Target="/ppt/notesMasters/notesMaster1.xml" Id="R4200b4a17ee44b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fca4d37aca40da" /><Relationship Type="http://schemas.openxmlformats.org/officeDocument/2006/relationships/notesMaster" Target="/ppt/notesMasters/notesMaster1.xml" Id="Rdf118f2b0cea4c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c6bcf7d18f43e9" /><Relationship Type="http://schemas.openxmlformats.org/officeDocument/2006/relationships/notesMaster" Target="/ppt/notesMasters/notesMaster1.xml" Id="Rd4bb3244199e42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3ed4ee07574eb5" /><Relationship Type="http://schemas.openxmlformats.org/officeDocument/2006/relationships/notesMaster" Target="/ppt/notesMasters/notesMaster1.xml" Id="R33f443f4e9994e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9d0d69f3445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bca6e00484817" /><Relationship Type="http://schemas.openxmlformats.org/officeDocument/2006/relationships/slideLayout" Target="/ppt/slideLayouts/slideLayout1.xml" Id="R6a8dae84098e40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8dae84098e40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7939fee3a4f1f" /><Relationship Type="http://schemas.openxmlformats.org/officeDocument/2006/relationships/notesSlide" Target="/ppt/notesSlides/notesSlide1.xml" Id="Rbab4455c98a344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0012050494260" /><Relationship Type="http://schemas.openxmlformats.org/officeDocument/2006/relationships/notesSlide" Target="/ppt/notesSlides/notesSlide2.xml" Id="Raa9123d5c9f646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d8c0c70ea4f03" /><Relationship Type="http://schemas.openxmlformats.org/officeDocument/2006/relationships/notesSlide" Target="/ppt/notesSlides/notesSlide3.xml" Id="Rd23a1daf35c047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ce0b745a1467e" /><Relationship Type="http://schemas.openxmlformats.org/officeDocument/2006/relationships/notesSlide" Target="/ppt/notesSlides/notesSlide4.xml" Id="R7e865d7b429c4c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b7cbc21494a2f" /><Relationship Type="http://schemas.openxmlformats.org/officeDocument/2006/relationships/notesSlide" Target="/ppt/notesSlides/notesSlide5.xml" Id="R4adf41c817ad4c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68a7d9b904fcc" /><Relationship Type="http://schemas.openxmlformats.org/officeDocument/2006/relationships/notesSlide" Target="/ppt/notesSlides/notesSlide6.xml" Id="R90b870195c3543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374fb346f4da6" /><Relationship Type="http://schemas.openxmlformats.org/officeDocument/2006/relationships/notesSlide" Target="/ppt/notesSlides/notesSlide7.xml" Id="R082a529e94b644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c0a37249b436f" /><Relationship Type="http://schemas.openxmlformats.org/officeDocument/2006/relationships/notesSlide" Target="/ppt/notesSlides/notesSlide8.xml" Id="Rb83c0edea6fc4f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107eb285a4e24" /><Relationship Type="http://schemas.openxmlformats.org/officeDocument/2006/relationships/notesSlide" Target="/ppt/notesSlides/notesSlide9.xml" Id="Rf204a7a786c845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41d263d844110" /><Relationship Type="http://schemas.openxmlformats.org/officeDocument/2006/relationships/notesSlide" Target="/ppt/notesSlides/notesSlide10.xml" Id="R14e04904b88b4c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72ba20f484090" /><Relationship Type="http://schemas.openxmlformats.org/officeDocument/2006/relationships/notesSlide" Target="/ppt/notesSlides/notesSlide11.xml" Id="R39a4b2449bac42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4fba66d074bf6" /><Relationship Type="http://schemas.openxmlformats.org/officeDocument/2006/relationships/notesSlide" Target="/ppt/notesSlides/notesSlide12.xml" Id="Ra00ddc0082734c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96E9BAC-67F9-4548-A97B-652FB09D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B249DC-2424-48CC-83DB-FEB90810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1A764A-B1E4-4AC3-80D4-B4E89FA8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PRODUCT INTRO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24482CE-81F4-4F39-A697-22277A50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572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Analytics SaaS MVP turns raw data into executive decisions.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3E74CEA-F46D-456F-A66C-71B6B26B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666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A local-first analytics platform that uploads datasets, validates metrics, builds dashboards, explains business meaning, and exports board-ready reports.</a:t>
            </a:r>
          </a:p>
        </p:txBody>
      </p:sp>
      <p:sp>
        <p:nvSpPr>
          <p:cNvPr id="6" name="metric-container">
            <a:extLst xmlns:a="http://schemas.openxmlformats.org/drawingml/2006/main">
              <a:ext uri="{FF2B5EF4-FFF2-40B4-BE49-F238E27FC236}">
                <a16:creationId xmlns:a16="http://schemas.microsoft.com/office/drawing/2014/main" id="{6A74EFD3-5E06-4ADD-89EC-77F51596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9144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9A03213E-B3C3-4F3F-BFFF-338B26F7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9144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DB6378D-7662-47F6-9D91-0B7F89DE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BDA04BB-E05D-4318-89B2-2093291D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0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CSV to dataset record</a:t>
            </a:r>
          </a:p>
        </p:txBody>
      </p:sp>
      <p:sp>
        <p:nvSpPr>
          <p:cNvPr id="10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B4507DF0-F0F6-41A6-827F-A2C5A94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3830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Data lifecycle, profiling, schema, and dashboard payload.</a:t>
            </a:r>
          </a:p>
        </p:txBody>
      </p:sp>
      <p:sp>
        <p:nvSpPr>
          <p:cNvPr id="11" name="metric-container">
            <a:extLst xmlns:a="http://schemas.openxmlformats.org/drawingml/2006/main">
              <a:ext uri="{FF2B5EF4-FFF2-40B4-BE49-F238E27FC236}">
                <a16:creationId xmlns:a16="http://schemas.microsoft.com/office/drawing/2014/main" id="{461E0672-FB87-4FCD-85CE-AE7D5676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8FBF4378-4A15-44CA-8960-E84E95AB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10C7262-65F7-4FA4-B808-A20ECBFA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D69A70BF-0006-4F12-BDCC-B3A8318D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Evidence-first intelligence</a:t>
            </a:r>
          </a:p>
        </p:txBody>
      </p:sp>
      <p:sp>
        <p:nvSpPr>
          <p:cNvPr id="15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DAA8A820-0CAD-4712-8256-E742D04A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Metric suitability, KPIs, insights, questions, SQL, and DAX.</a:t>
            </a:r>
          </a:p>
        </p:txBody>
      </p:sp>
      <p:sp>
        <p:nvSpPr>
          <p:cNvPr id="16" name="metric-container">
            <a:extLst xmlns:a="http://schemas.openxmlformats.org/drawingml/2006/main">
              <a:ext uri="{FF2B5EF4-FFF2-40B4-BE49-F238E27FC236}">
                <a16:creationId xmlns:a16="http://schemas.microsoft.com/office/drawing/2014/main" id="{D57ECC4E-E117-4761-BEAF-73A11DA8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576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830EC820-4ACE-4B30-B018-549BBCC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576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50BE30B-0860-4861-8051-7099D6B8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997573D-934A-4639-8CF7-F65BA853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PDF, PPTX, XLSX</a:t>
            </a:r>
          </a:p>
        </p:txBody>
      </p:sp>
      <p:sp>
        <p:nvSpPr>
          <p:cNvPr id="20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73A8A215-C4B9-4BE8-A85C-549DB3ED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Executive-ready exports with selected visuals and summaries.</a:t>
            </a:r>
          </a:p>
        </p:txBody>
      </p:sp>
      <p:sp>
        <p:nvSpPr>
          <p:cNvPr id="21" name="pill-box">
            <a:extLst xmlns:a="http://schemas.openxmlformats.org/drawingml/2006/main">
              <a:ext uri="{FF2B5EF4-FFF2-40B4-BE49-F238E27FC236}">
                <a16:creationId xmlns:a16="http://schemas.microsoft.com/office/drawing/2014/main" id="{F9F368AE-6103-4754-9999-BAE27108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2" name="pill-text">
            <a:extLst xmlns:a="http://schemas.openxmlformats.org/drawingml/2006/main">
              <a:ext uri="{FF2B5EF4-FFF2-40B4-BE49-F238E27FC236}">
                <a16:creationId xmlns:a16="http://schemas.microsoft.com/office/drawing/2014/main" id="{ABFE94C7-23F3-4ADB-BB02-D4735583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29075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Built for founders, executives, analysts, and pilot customers</a:t>
            </a:r>
          </a:p>
        </p:txBody>
      </p:sp>
      <p:sp>
        <p:nvSpPr>
          <p:cNvPr id="2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3C6B86B-1DFB-4609-8932-5916F835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4544BFF-8C64-4E5B-BA0E-F4413247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72016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4936F00-CF47-4175-8E2F-3AF5E4A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9AD8A5C-CBFC-4315-B7AC-D1C4F25A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357BA1C-B1AA-470A-9F52-683CE623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04E1C15-BEB7-4A29-A451-40706CC7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Most dashboard tools stop before the business decision.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A941021B-922D-4821-8720-2732554C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gap is not visualization. The gap is validation, interpretation, and report-ready action that a leader can trust.</a:t>
            </a:r>
          </a:p>
        </p:txBody>
      </p:sp>
      <p:sp>
        <p:nvSpPr>
          <p:cNvPr id="6" name="stage-box">
            <a:extLst xmlns:a="http://schemas.openxmlformats.org/drawingml/2006/main">
              <a:ext uri="{FF2B5EF4-FFF2-40B4-BE49-F238E27FC236}">
                <a16:creationId xmlns:a16="http://schemas.microsoft.com/office/drawing/2014/main" id="{4272FC33-0702-4D28-976B-86CEAC01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076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CBB83A7A-C31C-424E-9B1E-6907116F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076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240F174-40BD-4164-9266-6038E4B3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Data arrives</a:t>
            </a:r>
          </a:p>
        </p:txBody>
      </p:sp>
      <p:sp>
        <p:nvSpPr>
          <p:cNvPr id="9" name="stage-sub">
            <a:extLst xmlns:a="http://schemas.openxmlformats.org/drawingml/2006/main">
              <a:ext uri="{FF2B5EF4-FFF2-40B4-BE49-F238E27FC236}">
                <a16:creationId xmlns:a16="http://schemas.microsoft.com/office/drawing/2014/main" id="{E607EACE-D8EF-4576-A59F-9FC7E450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733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CSV files, exports, and disconnected operational data.</a:t>
            </a:r>
          </a:p>
        </p:txBody>
      </p:sp>
      <p:sp>
        <p:nvSpPr>
          <p:cNvPr id="10" name="stage-box">
            <a:extLst xmlns:a="http://schemas.openxmlformats.org/drawingml/2006/main">
              <a:ext uri="{FF2B5EF4-FFF2-40B4-BE49-F238E27FC236}">
                <a16:creationId xmlns:a16="http://schemas.microsoft.com/office/drawing/2014/main" id="{5BABFC35-CADE-4962-8762-D8581C72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2076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E8E02851-EFE9-4F70-8B2C-B596C8EB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2076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DD37F863-ECCD-4024-8834-C605A1BD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Charts appear</a:t>
            </a:r>
          </a:p>
        </p:txBody>
      </p:sp>
      <p:sp>
        <p:nvSpPr>
          <p:cNvPr id="13" name="stage-sub">
            <a:extLst xmlns:a="http://schemas.openxmlformats.org/drawingml/2006/main">
              <a:ext uri="{FF2B5EF4-FFF2-40B4-BE49-F238E27FC236}">
                <a16:creationId xmlns:a16="http://schemas.microsoft.com/office/drawing/2014/main" id="{806F1E0D-1831-472F-AA3A-7AB53311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71850"/>
            <a:ext cx="1733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Default visuals show activity but often miss business meaning.</a:t>
            </a:r>
          </a:p>
        </p:txBody>
      </p:sp>
      <p:sp>
        <p:nvSpPr>
          <p:cNvPr id="14" name="stage-box">
            <a:extLst xmlns:a="http://schemas.openxmlformats.org/drawingml/2006/main">
              <a:ext uri="{FF2B5EF4-FFF2-40B4-BE49-F238E27FC236}">
                <a16:creationId xmlns:a16="http://schemas.microsoft.com/office/drawing/2014/main" id="{8DE55A30-2AB2-4084-8049-09011150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2076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1119471D-49BE-48C2-9AB5-0F593B6E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2076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B0B8612-1157-4014-B6C7-135306ED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051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Analyst work begins</a:t>
            </a:r>
          </a:p>
        </p:txBody>
      </p:sp>
      <p:sp>
        <p:nvSpPr>
          <p:cNvPr id="17" name="stage-sub">
            <a:extLst xmlns:a="http://schemas.openxmlformats.org/drawingml/2006/main">
              <a:ext uri="{FF2B5EF4-FFF2-40B4-BE49-F238E27FC236}">
                <a16:creationId xmlns:a16="http://schemas.microsoft.com/office/drawing/2014/main" id="{C0994A25-23A9-42C1-A46B-008F7A87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71850"/>
            <a:ext cx="1733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Teams manually validate metrics, write explanations, and package slides.</a:t>
            </a:r>
          </a:p>
        </p:txBody>
      </p:sp>
      <p:sp>
        <p:nvSpPr>
          <p:cNvPr id="18" name="stage-box">
            <a:extLst xmlns:a="http://schemas.openxmlformats.org/drawingml/2006/main">
              <a:ext uri="{FF2B5EF4-FFF2-40B4-BE49-F238E27FC236}">
                <a16:creationId xmlns:a16="http://schemas.microsoft.com/office/drawing/2014/main" id="{EA755687-4189-4F07-B8F6-C23372DC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95600"/>
            <a:ext cx="2076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294F4A25-2CFA-4ACD-914A-B6FCB412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95600"/>
            <a:ext cx="2076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tage-label">
            <a:extLst xmlns:a="http://schemas.openxmlformats.org/drawingml/2006/main">
              <a:ext uri="{FF2B5EF4-FFF2-40B4-BE49-F238E27FC236}">
                <a16:creationId xmlns:a16="http://schemas.microsoft.com/office/drawing/2014/main" id="{D1560521-A04B-452F-AAE5-B7AF7C2E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Decision delayed</a:t>
            </a:r>
          </a:p>
        </p:txBody>
      </p:sp>
      <p:sp>
        <p:nvSpPr>
          <p:cNvPr id="21" name="stage-sub">
            <a:extLst xmlns:a="http://schemas.openxmlformats.org/drawingml/2006/main">
              <a:ext uri="{FF2B5EF4-FFF2-40B4-BE49-F238E27FC236}">
                <a16:creationId xmlns:a16="http://schemas.microsoft.com/office/drawing/2014/main" id="{DD649770-E988-4D7B-A3E1-84D4F22E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1733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Meetings need narrative, evidence, action, and confidence.</a:t>
            </a:r>
          </a:p>
        </p:txBody>
      </p:sp>
      <p:sp>
        <p:nvSpPr>
          <p:cNvPr id="22" name="opportunity-callout">
            <a:extLst xmlns:a="http://schemas.openxmlformats.org/drawingml/2006/main">
              <a:ext uri="{FF2B5EF4-FFF2-40B4-BE49-F238E27FC236}">
                <a16:creationId xmlns:a16="http://schemas.microsoft.com/office/drawing/2014/main" id="{A02B2307-21B1-4E0A-A44F-2F249800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240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Opportunity: compress analysis-to-meeting time into one guided product flow.</a:t>
            </a:r>
          </a:p>
        </p:txBody>
      </p:sp>
      <p:sp>
        <p:nvSpPr>
          <p:cNvPr id="2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9484640-7625-44CE-BFF9-19915DD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A0B0304-1733-4034-AD16-DA15A8D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06658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49F2D9A-BEB1-4B13-857C-B4F28F39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6B853E-FC10-4EF3-9FD7-EFCCD3E2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3E9D06E-FFDA-418C-A07F-38FA7652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PLATFORM FLOW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F01E74B-40A1-4FD9-984C-A9D8E4FB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The MVP already covers the full path from upload to board-ready output.</a:t>
            </a:r>
          </a:p>
        </p:txBody>
      </p:sp>
      <p:sp>
        <p:nvSpPr>
          <p:cNvPr id="5" name="stage-box">
            <a:extLst xmlns:a="http://schemas.openxmlformats.org/drawingml/2006/main">
              <a:ext uri="{FF2B5EF4-FFF2-40B4-BE49-F238E27FC236}">
                <a16:creationId xmlns:a16="http://schemas.microsoft.com/office/drawing/2014/main" id="{3CDA2EE1-0166-4610-A806-FCCD885D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6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D319F208-4A49-42CE-933D-012BA91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1611C00-4598-4C3D-8E14-2E3FC3F8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8" name="stage-sub">
            <a:extLst xmlns:a="http://schemas.openxmlformats.org/drawingml/2006/main">
              <a:ext uri="{FF2B5EF4-FFF2-40B4-BE49-F238E27FC236}">
                <a16:creationId xmlns:a16="http://schemas.microsoft.com/office/drawing/2014/main" id="{6A5D6869-B0CC-415D-81B6-2737595F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Upload, persist, validate, and track lifecycle.</a:t>
            </a:r>
          </a:p>
        </p:txBody>
      </p:sp>
      <p:sp>
        <p:nvSpPr>
          <p:cNvPr id="9" name="stage-box">
            <a:extLst xmlns:a="http://schemas.openxmlformats.org/drawingml/2006/main">
              <a:ext uri="{FF2B5EF4-FFF2-40B4-BE49-F238E27FC236}">
                <a16:creationId xmlns:a16="http://schemas.microsoft.com/office/drawing/2014/main" id="{F2AAA45E-936A-4BDB-89F1-36DF8E55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0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6B20037B-6F3C-421A-A314-EDB8C849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label">
            <a:extLst xmlns:a="http://schemas.openxmlformats.org/drawingml/2006/main">
              <a:ext uri="{FF2B5EF4-FFF2-40B4-BE49-F238E27FC236}">
                <a16:creationId xmlns:a16="http://schemas.microsoft.com/office/drawing/2014/main" id="{A4346A43-BFDF-4FD0-B40D-FEAA3B4B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2" name="stage-sub">
            <a:extLst xmlns:a="http://schemas.openxmlformats.org/drawingml/2006/main">
              <a:ext uri="{FF2B5EF4-FFF2-40B4-BE49-F238E27FC236}">
                <a16:creationId xmlns:a16="http://schemas.microsoft.com/office/drawing/2014/main" id="{38B8FCDF-1C5B-4438-A399-D2851299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Detect types, missing values, duplicates, quality, and outliers.</a:t>
            </a:r>
          </a:p>
        </p:txBody>
      </p:sp>
      <p:sp>
        <p:nvSpPr>
          <p:cNvPr id="13" name="stage-box">
            <a:extLst xmlns:a="http://schemas.openxmlformats.org/drawingml/2006/main">
              <a:ext uri="{FF2B5EF4-FFF2-40B4-BE49-F238E27FC236}">
                <a16:creationId xmlns:a16="http://schemas.microsoft.com/office/drawing/2014/main" id="{C3D7EBA5-BF1F-434E-8756-7B0F67EA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4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AAA92653-3A4B-4145-B010-5FD913C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D1E35BF-0B41-45D6-9400-71737F9F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6" name="stage-sub">
            <a:extLst xmlns:a="http://schemas.openxmlformats.org/drawingml/2006/main">
              <a:ext uri="{FF2B5EF4-FFF2-40B4-BE49-F238E27FC236}">
                <a16:creationId xmlns:a16="http://schemas.microsoft.com/office/drawing/2014/main" id="{E7792FE9-4AD1-45DC-9783-3317D8A3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Generate KPIs, charts, domain signals, and grounded insights.</a:t>
            </a:r>
          </a:p>
        </p:txBody>
      </p:sp>
      <p:sp>
        <p:nvSpPr>
          <p:cNvPr id="17" name="stage-box">
            <a:extLst xmlns:a="http://schemas.openxmlformats.org/drawingml/2006/main">
              <a:ext uri="{FF2B5EF4-FFF2-40B4-BE49-F238E27FC236}">
                <a16:creationId xmlns:a16="http://schemas.microsoft.com/office/drawing/2014/main" id="{0A2DE7DA-D475-468D-8EE9-AF0D812D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8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E71F0F91-63B4-42D4-BF72-F0FBF585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CA4E790-D288-4AA8-A887-CAB374FE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20" name="stage-sub">
            <a:extLst xmlns:a="http://schemas.openxmlformats.org/drawingml/2006/main">
              <a:ext uri="{FF2B5EF4-FFF2-40B4-BE49-F238E27FC236}">
                <a16:creationId xmlns:a16="http://schemas.microsoft.com/office/drawing/2014/main" id="{AE0CEA6B-5F58-47B0-A6A8-740E10E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337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SQL Lab, DAX Studio, and AI analyst workflows.</a:t>
            </a:r>
          </a:p>
        </p:txBody>
      </p:sp>
      <p:sp>
        <p:nvSpPr>
          <p:cNvPr id="21" name="stage-box">
            <a:extLst xmlns:a="http://schemas.openxmlformats.org/drawingml/2006/main">
              <a:ext uri="{FF2B5EF4-FFF2-40B4-BE49-F238E27FC236}">
                <a16:creationId xmlns:a16="http://schemas.microsoft.com/office/drawing/2014/main" id="{86B7E329-BE2B-41F4-8919-C9F55F8B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2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2ADBBBAB-92FD-4333-A67B-454CDCA9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tage-label">
            <a:extLst xmlns:a="http://schemas.openxmlformats.org/drawingml/2006/main">
              <a:ext uri="{FF2B5EF4-FFF2-40B4-BE49-F238E27FC236}">
                <a16:creationId xmlns:a16="http://schemas.microsoft.com/office/drawing/2014/main" id="{4A7E2866-44CC-4316-92C8-8D1D041F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24" name="stage-sub">
            <a:extLst xmlns:a="http://schemas.openxmlformats.org/drawingml/2006/main">
              <a:ext uri="{FF2B5EF4-FFF2-40B4-BE49-F238E27FC236}">
                <a16:creationId xmlns:a16="http://schemas.microsoft.com/office/drawing/2014/main" id="{460F7EA1-8918-42C1-AE32-899E5948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Download PDF, PPTX, XLSX, CSV, JSON, and PNG packages.</a:t>
            </a:r>
          </a:p>
        </p:txBody>
      </p:sp>
      <p:sp>
        <p:nvSpPr>
          <p:cNvPr id="2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F3B60DB-E710-4EBD-B056-70A37CE6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sales story is simple: a business user can bring data in, understand what matters, and leave with a meeting-ready report.</a:t>
            </a:r>
          </a:p>
        </p:txBody>
      </p:sp>
      <p:sp>
        <p:nvSpPr>
          <p:cNvPr id="2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4AE29F3-9639-4433-8178-D5EBA9DD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A8E93A7-8159-4581-81DF-0A3E5978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67212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11293B2-8963-4183-85F5-23108B76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A0867C-D1B3-4013-8A1A-12038603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3508F3B-9041-4209-B4BF-25D03EFE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TRUST LAYER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4ACB266-3C79-46A5-908E-018DF5E6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62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intelligence layer validates business logic before it speaks.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E7E6792-A341-4401-85F8-82EA031D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This is the core difference from generic AI: age is not summed, IDs are not treated as KPIs, and time intelligence is blocked when date logic is not valid.</a:t>
            </a:r>
          </a:p>
        </p:txBody>
      </p:sp>
      <p:sp>
        <p:nvSpPr>
          <p:cNvPr id="6" name="bar-label">
            <a:extLst xmlns:a="http://schemas.openxmlformats.org/drawingml/2006/main">
              <a:ext uri="{FF2B5EF4-FFF2-40B4-BE49-F238E27FC236}">
                <a16:creationId xmlns:a16="http://schemas.microsoft.com/office/drawing/2014/main" id="{0EA0906C-5190-4913-874C-E1C50556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Metric suitability</a:t>
            </a:r>
          </a:p>
        </p:txBody>
      </p:sp>
      <p:sp>
        <p:nvSpPr>
          <p:cNvPr id="7" name="bar-track">
            <a:extLst xmlns:a="http://schemas.openxmlformats.org/drawingml/2006/main">
              <a:ext uri="{FF2B5EF4-FFF2-40B4-BE49-F238E27FC236}">
                <a16:creationId xmlns:a16="http://schemas.microsoft.com/office/drawing/2014/main" id="{369A6698-A005-412C-A1DE-86B2D389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33725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bar-fill">
            <a:extLst xmlns:a="http://schemas.openxmlformats.org/drawingml/2006/main">
              <a:ext uri="{FF2B5EF4-FFF2-40B4-BE49-F238E27FC236}">
                <a16:creationId xmlns:a16="http://schemas.microsoft.com/office/drawing/2014/main" id="{51876654-ECDA-460A-B6AE-66486655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33725"/>
            <a:ext cx="551973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ar-label">
            <a:extLst xmlns:a="http://schemas.openxmlformats.org/drawingml/2006/main">
              <a:ext uri="{FF2B5EF4-FFF2-40B4-BE49-F238E27FC236}">
                <a16:creationId xmlns:a16="http://schemas.microsoft.com/office/drawing/2014/main" id="{A6038BEF-7D95-4CDB-A10E-93146489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Field type validation</a:t>
            </a:r>
          </a:p>
        </p:txBody>
      </p:sp>
      <p:sp>
        <p:nvSpPr>
          <p:cNvPr id="10" name="bar-track">
            <a:extLst xmlns:a="http://schemas.openxmlformats.org/drawingml/2006/main">
              <a:ext uri="{FF2B5EF4-FFF2-40B4-BE49-F238E27FC236}">
                <a16:creationId xmlns:a16="http://schemas.microsoft.com/office/drawing/2014/main" id="{F399BC70-18DE-47FA-BD4D-2750A9E5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9975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ar-fill">
            <a:extLst xmlns:a="http://schemas.openxmlformats.org/drawingml/2006/main">
              <a:ext uri="{FF2B5EF4-FFF2-40B4-BE49-F238E27FC236}">
                <a16:creationId xmlns:a16="http://schemas.microsoft.com/office/drawing/2014/main" id="{AC276628-9AC1-45ED-84EA-F9AAC9DC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9975"/>
            <a:ext cx="5229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bar-label">
            <a:extLst xmlns:a="http://schemas.openxmlformats.org/drawingml/2006/main">
              <a:ext uri="{FF2B5EF4-FFF2-40B4-BE49-F238E27FC236}">
                <a16:creationId xmlns:a16="http://schemas.microsoft.com/office/drawing/2014/main" id="{92E4A0DE-7A25-4272-AC04-EC248D9D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Evidence-based wording</a:t>
            </a:r>
          </a:p>
        </p:txBody>
      </p:sp>
      <p:sp>
        <p:nvSpPr>
          <p:cNvPr id="13" name="bar-track">
            <a:extLst xmlns:a="http://schemas.openxmlformats.org/drawingml/2006/main">
              <a:ext uri="{FF2B5EF4-FFF2-40B4-BE49-F238E27FC236}">
                <a16:creationId xmlns:a16="http://schemas.microsoft.com/office/drawing/2014/main" id="{2F26E9FA-096B-42E3-B101-0337822F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86225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bar-fill">
            <a:extLst xmlns:a="http://schemas.openxmlformats.org/drawingml/2006/main">
              <a:ext uri="{FF2B5EF4-FFF2-40B4-BE49-F238E27FC236}">
                <a16:creationId xmlns:a16="http://schemas.microsoft.com/office/drawing/2014/main" id="{055D910B-FFAA-4998-9CD0-A7BF0E29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86225"/>
            <a:ext cx="49968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bar-label">
            <a:extLst xmlns:a="http://schemas.openxmlformats.org/drawingml/2006/main">
              <a:ext uri="{FF2B5EF4-FFF2-40B4-BE49-F238E27FC236}">
                <a16:creationId xmlns:a16="http://schemas.microsoft.com/office/drawing/2014/main" id="{1B888631-7022-4EC6-8635-CF2018E5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Export-ready narrative</a:t>
            </a:r>
          </a:p>
        </p:txBody>
      </p:sp>
      <p:sp>
        <p:nvSpPr>
          <p:cNvPr id="16" name="bar-track">
            <a:extLst xmlns:a="http://schemas.openxmlformats.org/drawingml/2006/main">
              <a:ext uri="{FF2B5EF4-FFF2-40B4-BE49-F238E27FC236}">
                <a16:creationId xmlns:a16="http://schemas.microsoft.com/office/drawing/2014/main" id="{E57BB247-74EC-44A4-BEB7-DF63C94D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62475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bar-fill">
            <a:extLst xmlns:a="http://schemas.openxmlformats.org/drawingml/2006/main">
              <a:ext uri="{FF2B5EF4-FFF2-40B4-BE49-F238E27FC236}">
                <a16:creationId xmlns:a16="http://schemas.microsoft.com/office/drawing/2014/main" id="{32D74A4F-ABEA-4250-8CAB-CCD8D9D9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62475"/>
            <a:ext cx="464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evidence-box">
            <a:extLst xmlns:a="http://schemas.openxmlformats.org/drawingml/2006/main">
              <a:ext uri="{FF2B5EF4-FFF2-40B4-BE49-F238E27FC236}">
                <a16:creationId xmlns:a16="http://schemas.microsoft.com/office/drawing/2014/main" id="{CEB25E9F-65D1-4D35-8AEC-339EC3A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2876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guardrail-title">
            <a:extLst xmlns:a="http://schemas.openxmlformats.org/drawingml/2006/main">
              <a:ext uri="{FF2B5EF4-FFF2-40B4-BE49-F238E27FC236}">
                <a16:creationId xmlns:a16="http://schemas.microsoft.com/office/drawing/2014/main" id="{6BDEBF02-4371-4C81-8FEF-BDEB89D9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718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 example</a:t>
            </a:r>
          </a:p>
        </p:txBody>
      </p:sp>
      <p:sp>
        <p:nvSpPr>
          <p:cNvPr id="20" name="guardrail-copy">
            <a:extLst xmlns:a="http://schemas.openxmlformats.org/drawingml/2006/main">
              <a:ext uri="{FF2B5EF4-FFF2-40B4-BE49-F238E27FC236}">
                <a16:creationId xmlns:a16="http://schemas.microsoft.com/office/drawing/2014/main" id="{91EAFC12-B402-4482-AA04-9D4C72AE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Instead of: Total age by gender.</a:t>
            </a:r>
          </a:p>
          <a:p xmlns:a="http://schemas.openxmlformats.org/drawingml/2006/main">
            <a:pPr algn="l">
              <a:defRPr sz="12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Use: Average age or age distribution by gender.</a:t>
            </a:r>
          </a:p>
        </p:txBody>
      </p:sp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589B699-226B-45DA-B280-82DAB824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94804D9-3CBD-42EB-9C06-EF3C2D0F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14255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C0E598-0338-460E-9C43-4D5CD560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0C7EB6-BD8B-472D-AD58-AB9BD5E6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D48DE1-2B22-45B9-A66D-4BD6ED27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DASHBOARD EXPERIENCE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D14D341-66C2-42BD-92EB-56EE3A18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The dashboard is designed for executives, not just developers.</a:t>
            </a:r>
          </a:p>
        </p:txBody>
      </p:sp>
      <p:sp>
        <p:nvSpPr>
          <p:cNvPr id="5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89554A7F-E53E-4F52-A6B4-6376F4EF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6667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6" name="dashboard-label">
            <a:extLst xmlns:a="http://schemas.openxmlformats.org/drawingml/2006/main">
              <a:ext uri="{FF2B5EF4-FFF2-40B4-BE49-F238E27FC236}">
                <a16:creationId xmlns:a16="http://schemas.microsoft.com/office/drawing/2014/main" id="{4D7603E9-0D92-453F-9259-41F7E2A6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Executive Dashboard</a:t>
            </a:r>
          </a:p>
        </p:txBody>
      </p:sp>
      <p:sp>
        <p:nvSpPr>
          <p:cNvPr id="7" name="metric-container">
            <a:extLst xmlns:a="http://schemas.openxmlformats.org/drawingml/2006/main">
              <a:ext uri="{FF2B5EF4-FFF2-40B4-BE49-F238E27FC236}">
                <a16:creationId xmlns:a16="http://schemas.microsoft.com/office/drawing/2014/main" id="{CC794465-FD8A-4D12-8456-22AFEC25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752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046B6618-E0F8-4895-9942-6B0C6C27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6BC329D-BD9C-4BCD-9541-E2B50609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KPI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9FA38FB-65FE-4CEF-A60D-1C2B7780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909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business cards</a:t>
            </a:r>
          </a:p>
        </p:txBody>
      </p:sp>
      <p:sp>
        <p:nvSpPr>
          <p:cNvPr id="11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BA4A6A3-B2B0-4FF1-ADC3-ECA6889D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Value, delta, context, confidence.</a:t>
            </a:r>
          </a:p>
        </p:txBody>
      </p:sp>
      <p:sp>
        <p:nvSpPr>
          <p:cNvPr id="12" name="metric-container">
            <a:extLst xmlns:a="http://schemas.openxmlformats.org/drawingml/2006/main">
              <a:ext uri="{FF2B5EF4-FFF2-40B4-BE49-F238E27FC236}">
                <a16:creationId xmlns:a16="http://schemas.microsoft.com/office/drawing/2014/main" id="{687F4357-4BF0-4E9E-A0E5-EFFDDA94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752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0C5FCE01-884A-4E56-8238-8E64C6A7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8A21840-FEB9-499D-8CFB-8B7A0CC7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Charts</a:t>
            </a:r>
          </a:p>
        </p:txBody>
      </p:sp>
      <p:sp>
        <p:nvSpPr>
          <p:cNvPr id="1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DF13D14-7D9A-4C4C-B382-ECFB06E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909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Plotly visuals</a:t>
            </a:r>
          </a:p>
        </p:txBody>
      </p:sp>
      <p:sp>
        <p:nvSpPr>
          <p:cNvPr id="16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1A5F3E92-ECB3-4EAC-995B-FF0C9DC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Clean titles, labels, subtitles.</a:t>
            </a:r>
          </a:p>
        </p:txBody>
      </p:sp>
      <p:sp>
        <p:nvSpPr>
          <p:cNvPr id="17" name="metric-container">
            <a:extLst xmlns:a="http://schemas.openxmlformats.org/drawingml/2006/main">
              <a:ext uri="{FF2B5EF4-FFF2-40B4-BE49-F238E27FC236}">
                <a16:creationId xmlns:a16="http://schemas.microsoft.com/office/drawing/2014/main" id="{901F047F-4017-4C69-AF25-90C5BC11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1752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28B45B08-8A2A-4830-AED6-A75169E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E6E5ADE-79AF-43A4-8530-70B13918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575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Insights</a:t>
            </a:r>
          </a:p>
        </p:txBody>
      </p:sp>
      <p:sp>
        <p:nvSpPr>
          <p:cNvPr id="2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808C26B-4C6D-43CE-B3AF-94ABCF28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909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what and why</a:t>
            </a:r>
          </a:p>
        </p:txBody>
      </p:sp>
      <p:sp>
        <p:nvSpPr>
          <p:cNvPr id="21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D822B3AE-5798-4C77-A89A-837EAC97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290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Evidence, action, next question.</a:t>
            </a:r>
          </a:p>
        </p:txBody>
      </p:sp>
      <p:sp>
        <p:nvSpPr>
          <p:cNvPr id="22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54228B2-CE05-462B-95F4-FB0FF706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Sections: dataset preview, KPI overview, data quality, visual analysis, business insights, and suggested questions.</a:t>
            </a:r>
          </a:p>
        </p:txBody>
      </p:sp>
      <p:sp>
        <p:nvSpPr>
          <p:cNvPr id="2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C2CA6E9-4717-4ACA-8EB0-A5226972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F19DCF8-8A91-4981-BD18-388404F1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56209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1A5883B-981C-4150-BB32-76EF46D5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B016A24-6404-4ED8-9438-AE9ECCE7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A23D5A-3956-48CC-B70A-A2802791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DOMAIN REACH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C93DED3-3531-41A2-BF3D-5B8E8C5C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Domain-aware analytics lets one engine serve multiple business teams.</a:t>
            </a:r>
          </a:p>
        </p:txBody>
      </p:sp>
      <p:sp>
        <p:nvSpPr>
          <p:cNvPr id="5" name="domain-row">
            <a:extLst xmlns:a="http://schemas.openxmlformats.org/drawingml/2006/main">
              <a:ext uri="{FF2B5EF4-FFF2-40B4-BE49-F238E27FC236}">
                <a16:creationId xmlns:a16="http://schemas.microsoft.com/office/drawing/2014/main" id="{1E4C1010-E4A1-4389-AE12-F515B37C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omain-accent">
            <a:extLst xmlns:a="http://schemas.openxmlformats.org/drawingml/2006/main">
              <a:ext uri="{FF2B5EF4-FFF2-40B4-BE49-F238E27FC236}">
                <a16:creationId xmlns:a16="http://schemas.microsoft.com/office/drawing/2014/main" id="{A953D396-835A-4AD3-9D07-FC79E0C2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omain-name">
            <a:extLst xmlns:a="http://schemas.openxmlformats.org/drawingml/2006/main">
              <a:ext uri="{FF2B5EF4-FFF2-40B4-BE49-F238E27FC236}">
                <a16:creationId xmlns:a16="http://schemas.microsoft.com/office/drawing/2014/main" id="{BACF0991-4AAD-44ED-9978-B6D25435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Sales</a:t>
            </a:r>
          </a:p>
        </p:txBody>
      </p:sp>
      <p:sp>
        <p:nvSpPr>
          <p:cNvPr id="8" name="domain-detail">
            <a:extLst xmlns:a="http://schemas.openxmlformats.org/drawingml/2006/main">
              <a:ext uri="{FF2B5EF4-FFF2-40B4-BE49-F238E27FC236}">
                <a16:creationId xmlns:a16="http://schemas.microsoft.com/office/drawing/2014/main" id="{A39984B4-460A-423E-BEC9-09E7192A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907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Revenue, orders, profit, customer value</a:t>
            </a:r>
          </a:p>
        </p:txBody>
      </p:sp>
      <p:sp>
        <p:nvSpPr>
          <p:cNvPr id="9" name="domain-row">
            <a:extLst xmlns:a="http://schemas.openxmlformats.org/drawingml/2006/main">
              <a:ext uri="{FF2B5EF4-FFF2-40B4-BE49-F238E27FC236}">
                <a16:creationId xmlns:a16="http://schemas.microsoft.com/office/drawing/2014/main" id="{100F7975-B765-44EE-A9DA-09F54876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omain-accent">
            <a:extLst xmlns:a="http://schemas.openxmlformats.org/drawingml/2006/main">
              <a:ext uri="{FF2B5EF4-FFF2-40B4-BE49-F238E27FC236}">
                <a16:creationId xmlns:a16="http://schemas.microsoft.com/office/drawing/2014/main" id="{78DF9F53-367E-4253-BB0B-72E5B3E3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omain-name">
            <a:extLst xmlns:a="http://schemas.openxmlformats.org/drawingml/2006/main">
              <a:ext uri="{FF2B5EF4-FFF2-40B4-BE49-F238E27FC236}">
                <a16:creationId xmlns:a16="http://schemas.microsoft.com/office/drawing/2014/main" id="{4E841739-CEBD-424B-8362-F72D71F5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Churn</a:t>
            </a:r>
          </a:p>
        </p:txBody>
      </p:sp>
      <p:sp>
        <p:nvSpPr>
          <p:cNvPr id="12" name="domain-detail">
            <a:extLst xmlns:a="http://schemas.openxmlformats.org/drawingml/2006/main">
              <a:ext uri="{FF2B5EF4-FFF2-40B4-BE49-F238E27FC236}">
                <a16:creationId xmlns:a16="http://schemas.microsoft.com/office/drawing/2014/main" id="{DE2C1C13-4721-4C05-8A10-CF5EBF5B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384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Retention, risk segments, churn drivers</a:t>
            </a:r>
          </a:p>
        </p:txBody>
      </p:sp>
      <p:sp>
        <p:nvSpPr>
          <p:cNvPr id="13" name="domain-row">
            <a:extLst xmlns:a="http://schemas.openxmlformats.org/drawingml/2006/main">
              <a:ext uri="{FF2B5EF4-FFF2-40B4-BE49-F238E27FC236}">
                <a16:creationId xmlns:a16="http://schemas.microsoft.com/office/drawing/2014/main" id="{A5C6132A-5B27-49DE-8CF6-E339FB52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omain-accent">
            <a:extLst xmlns:a="http://schemas.openxmlformats.org/drawingml/2006/main">
              <a:ext uri="{FF2B5EF4-FFF2-40B4-BE49-F238E27FC236}">
                <a16:creationId xmlns:a16="http://schemas.microsoft.com/office/drawing/2014/main" id="{0332474D-2AB3-4039-8D0F-5B92782E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omain-name">
            <a:extLst xmlns:a="http://schemas.openxmlformats.org/drawingml/2006/main">
              <a:ext uri="{FF2B5EF4-FFF2-40B4-BE49-F238E27FC236}">
                <a16:creationId xmlns:a16="http://schemas.microsoft.com/office/drawing/2014/main" id="{41613B29-7E9B-4C89-84E9-7C9B0051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Healthcare</a:t>
            </a:r>
          </a:p>
        </p:txBody>
      </p:sp>
      <p:sp>
        <p:nvSpPr>
          <p:cNvPr id="16" name="domain-detail">
            <a:extLst xmlns:a="http://schemas.openxmlformats.org/drawingml/2006/main">
              <a:ext uri="{FF2B5EF4-FFF2-40B4-BE49-F238E27FC236}">
                <a16:creationId xmlns:a16="http://schemas.microsoft.com/office/drawing/2014/main" id="{27C524ED-D45B-4A74-BDEC-5977F43B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861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Risk groups, score rates, population segments</a:t>
            </a:r>
          </a:p>
        </p:txBody>
      </p:sp>
      <p:sp>
        <p:nvSpPr>
          <p:cNvPr id="17" name="domain-row">
            <a:extLst xmlns:a="http://schemas.openxmlformats.org/drawingml/2006/main">
              <a:ext uri="{FF2B5EF4-FFF2-40B4-BE49-F238E27FC236}">
                <a16:creationId xmlns:a16="http://schemas.microsoft.com/office/drawing/2014/main" id="{75CF5D3A-D9FD-48AA-9822-AE1D2DA6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omain-accent">
            <a:extLst xmlns:a="http://schemas.openxmlformats.org/drawingml/2006/main">
              <a:ext uri="{FF2B5EF4-FFF2-40B4-BE49-F238E27FC236}">
                <a16:creationId xmlns:a16="http://schemas.microsoft.com/office/drawing/2014/main" id="{1E3FA23F-D485-4CB1-9A6C-6D1F31A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omain-name">
            <a:extLst xmlns:a="http://schemas.openxmlformats.org/drawingml/2006/main">
              <a:ext uri="{FF2B5EF4-FFF2-40B4-BE49-F238E27FC236}">
                <a16:creationId xmlns:a16="http://schemas.microsoft.com/office/drawing/2014/main" id="{D1EFCDF5-178B-4547-9776-33430871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0" name="domain-detail">
            <a:extLst xmlns:a="http://schemas.openxmlformats.org/drawingml/2006/main">
              <a:ext uri="{FF2B5EF4-FFF2-40B4-BE49-F238E27FC236}">
                <a16:creationId xmlns:a16="http://schemas.microsoft.com/office/drawing/2014/main" id="{691AC514-A1A1-405A-BCDE-1AD2170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338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Variance, trend, outlier, board reporting</a:t>
            </a:r>
          </a:p>
        </p:txBody>
      </p:sp>
      <p:sp>
        <p:nvSpPr>
          <p:cNvPr id="21" name="domain-row">
            <a:extLst xmlns:a="http://schemas.openxmlformats.org/drawingml/2006/main">
              <a:ext uri="{FF2B5EF4-FFF2-40B4-BE49-F238E27FC236}">
                <a16:creationId xmlns:a16="http://schemas.microsoft.com/office/drawing/2014/main" id="{6762ABA0-96ED-4B72-B9DD-3DE24E4A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domain-accent">
            <a:extLst xmlns:a="http://schemas.openxmlformats.org/drawingml/2006/main">
              <a:ext uri="{FF2B5EF4-FFF2-40B4-BE49-F238E27FC236}">
                <a16:creationId xmlns:a16="http://schemas.microsoft.com/office/drawing/2014/main" id="{68D15D09-D4E6-4308-9941-A86EB53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domain-name">
            <a:extLst xmlns:a="http://schemas.openxmlformats.org/drawingml/2006/main">
              <a:ext uri="{FF2B5EF4-FFF2-40B4-BE49-F238E27FC236}">
                <a16:creationId xmlns:a16="http://schemas.microsoft.com/office/drawing/2014/main" id="{40D4C96D-7D6C-495C-8864-9DBCDB85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4" name="domain-detail">
            <a:extLst xmlns:a="http://schemas.openxmlformats.org/drawingml/2006/main">
              <a:ext uri="{FF2B5EF4-FFF2-40B4-BE49-F238E27FC236}">
                <a16:creationId xmlns:a16="http://schemas.microsoft.com/office/drawing/2014/main" id="{2209398E-085A-4E99-B2B3-B992BE34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815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Volume, quality, exceptions, performance</a:t>
            </a:r>
          </a:p>
        </p:txBody>
      </p:sp>
      <p:sp>
        <p:nvSpPr>
          <p:cNvPr id="2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FE04947-113B-4EDC-9F49-60B3C1B0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576F91-A862-42C1-9A14-3C0A72A4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09115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239E784-1CA1-4FD6-87CA-6DC55573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FBED9E-A220-40F8-9EBC-A41706D0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4377C9-4793-4CF3-837B-DA20024E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PRESENTATION LAYER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E879F95-B142-448F-BBD9-4DAE9FF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Exports turn analysis into meeting materials, not raw files.</a:t>
            </a:r>
          </a:p>
        </p:txBody>
      </p:sp>
      <p:sp>
        <p:nvSpPr>
          <p:cNvPr id="5" name="stage-box">
            <a:extLst xmlns:a="http://schemas.openxmlformats.org/drawingml/2006/main">
              <a:ext uri="{FF2B5EF4-FFF2-40B4-BE49-F238E27FC236}">
                <a16:creationId xmlns:a16="http://schemas.microsoft.com/office/drawing/2014/main" id="{6CCA148B-3A22-459D-8B28-1B89DAAC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DF4BC2CE-AE4A-494A-8AAF-FA92C8C7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9649162-5112-4CFD-8D7F-75D49CD3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8" name="stage-sub">
            <a:extLst xmlns:a="http://schemas.openxmlformats.org/drawingml/2006/main">
              <a:ext uri="{FF2B5EF4-FFF2-40B4-BE49-F238E27FC236}">
                <a16:creationId xmlns:a16="http://schemas.microsoft.com/office/drawing/2014/main" id="{471A3229-09E9-496B-8ECC-39136CA3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943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Executive reports with KPIs, charts, insights, and recommendations.</a:t>
            </a:r>
          </a:p>
        </p:txBody>
      </p:sp>
      <p:sp>
        <p:nvSpPr>
          <p:cNvPr id="9" name="stage-box">
            <a:extLst xmlns:a="http://schemas.openxmlformats.org/drawingml/2006/main">
              <a:ext uri="{FF2B5EF4-FFF2-40B4-BE49-F238E27FC236}">
                <a16:creationId xmlns:a16="http://schemas.microsoft.com/office/drawing/2014/main" id="{F6A04797-CA00-41D4-B67C-C940B7D6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9077B3F9-C2C8-4D1C-ADDA-DD3C6186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23F1190-B40B-4985-BF19-B1AE2694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337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PPTX</a:t>
            </a:r>
          </a:p>
        </p:txBody>
      </p:sp>
      <p:sp>
        <p:nvSpPr>
          <p:cNvPr id="12" name="stage-sub">
            <a:extLst xmlns:a="http://schemas.openxmlformats.org/drawingml/2006/main">
              <a:ext uri="{FF2B5EF4-FFF2-40B4-BE49-F238E27FC236}">
                <a16:creationId xmlns:a16="http://schemas.microsoft.com/office/drawing/2014/main" id="{D84E72BB-1B4D-4419-A615-0A47192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1943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Slide-ready summaries and selected visuals for board meetings.</a:t>
            </a:r>
          </a:p>
        </p:txBody>
      </p:sp>
      <p:sp>
        <p:nvSpPr>
          <p:cNvPr id="13" name="stage-box">
            <a:extLst xmlns:a="http://schemas.openxmlformats.org/drawingml/2006/main">
              <a:ext uri="{FF2B5EF4-FFF2-40B4-BE49-F238E27FC236}">
                <a16:creationId xmlns:a16="http://schemas.microsoft.com/office/drawing/2014/main" id="{B6B0FD6E-07F0-4287-AF30-C0CD7802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06634FFD-97C4-4C41-978D-A08EE303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7986364-572B-4643-AA1C-C0C5344D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337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XLSX</a:t>
            </a:r>
          </a:p>
        </p:txBody>
      </p:sp>
      <p:sp>
        <p:nvSpPr>
          <p:cNvPr id="16" name="stage-sub">
            <a:extLst xmlns:a="http://schemas.openxmlformats.org/drawingml/2006/main">
              <a:ext uri="{FF2B5EF4-FFF2-40B4-BE49-F238E27FC236}">
                <a16:creationId xmlns:a16="http://schemas.microsoft.com/office/drawing/2014/main" id="{D14B2A76-1863-4970-8DD4-A08D3425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1943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Multi-sheet workbook for analysts who need detail.</a:t>
            </a:r>
          </a:p>
        </p:txBody>
      </p:sp>
      <p:sp>
        <p:nvSpPr>
          <p:cNvPr id="17" name="stage-box">
            <a:extLst xmlns:a="http://schemas.openxmlformats.org/drawingml/2006/main">
              <a:ext uri="{FF2B5EF4-FFF2-40B4-BE49-F238E27FC236}">
                <a16:creationId xmlns:a16="http://schemas.microsoft.com/office/drawing/2014/main" id="{BDE9EAB8-CD15-485B-8115-68CEEAE2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6D990429-A38B-4022-8D77-E42AC855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981C703-F4EF-4401-9514-82784901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337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PNG/CSV/JSON</a:t>
            </a:r>
          </a:p>
        </p:txBody>
      </p:sp>
      <p:sp>
        <p:nvSpPr>
          <p:cNvPr id="20" name="stage-sub">
            <a:extLst xmlns:a="http://schemas.openxmlformats.org/drawingml/2006/main">
              <a:ext uri="{FF2B5EF4-FFF2-40B4-BE49-F238E27FC236}">
                <a16:creationId xmlns:a16="http://schemas.microsoft.com/office/drawing/2014/main" id="{B4E125A1-C4D6-46C1-B417-E42B6C0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004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Snapshots and structured exports for sharing or downstream use.</a:t>
            </a:r>
          </a:p>
        </p:txBody>
      </p:sp>
      <p:sp>
        <p:nvSpPr>
          <p:cNvPr id="2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C69B6C4-EA38-413C-8A77-33359614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Selected visuals can be packaged into dashboard, executive, or board report exports.</a:t>
            </a:r>
          </a:p>
        </p:txBody>
      </p:sp>
      <p:sp>
        <p:nvSpPr>
          <p:cNvPr id="2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F4DEAD2-D319-4E58-9A96-1331AE3B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D8EB41A-5210-479D-83EE-25D2E91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51175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496F460-1A6F-44F6-8449-B0324EE9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AC9532C-DD29-4E33-9EA2-15DD68B7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03970DE-6206-4F96-AA93-EDEF3892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POWER USERS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1C5995E-7C3E-4B71-A031-871D3F8D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SQL Lab and DAX Studio make the MVP credible for BI teams.</a:t>
            </a:r>
          </a:p>
        </p:txBody>
      </p:sp>
      <p:sp>
        <p:nvSpPr>
          <p:cNvPr id="5" name="stage-box">
            <a:extLst xmlns:a="http://schemas.openxmlformats.org/drawingml/2006/main">
              <a:ext uri="{FF2B5EF4-FFF2-40B4-BE49-F238E27FC236}">
                <a16:creationId xmlns:a16="http://schemas.microsoft.com/office/drawing/2014/main" id="{00DF676B-CD5B-4FC5-95E9-2B64199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6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CA025685-AD6F-429F-82AF-DF2E74E4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4286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tage-label">
            <a:extLst xmlns:a="http://schemas.openxmlformats.org/drawingml/2006/main">
              <a:ext uri="{FF2B5EF4-FFF2-40B4-BE49-F238E27FC236}">
                <a16:creationId xmlns:a16="http://schemas.microsoft.com/office/drawing/2014/main" id="{4F415DA6-6309-4411-B485-0A90B07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SQL Lab</a:t>
            </a:r>
          </a:p>
        </p:txBody>
      </p:sp>
      <p:sp>
        <p:nvSpPr>
          <p:cNvPr id="8" name="stage-sub">
            <a:extLst xmlns:a="http://schemas.openxmlformats.org/drawingml/2006/main">
              <a:ext uri="{FF2B5EF4-FFF2-40B4-BE49-F238E27FC236}">
                <a16:creationId xmlns:a16="http://schemas.microsoft.com/office/drawing/2014/main" id="{0D7141E3-ABAA-40E7-958E-5662A3CF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3943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Natural-language SQL, editor, run, explain, optimize, save, and export.</a:t>
            </a:r>
          </a:p>
        </p:txBody>
      </p:sp>
      <p:sp>
        <p:nvSpPr>
          <p:cNvPr id="9" name="stage-box">
            <a:extLst xmlns:a="http://schemas.openxmlformats.org/drawingml/2006/main">
              <a:ext uri="{FF2B5EF4-FFF2-40B4-BE49-F238E27FC236}">
                <a16:creationId xmlns:a16="http://schemas.microsoft.com/office/drawing/2014/main" id="{314F2440-8005-4AB4-A502-69C0BA4B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0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8425084F-4E0E-4E07-9325-E5E0D111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286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9676C06-8A9A-43A3-9BF8-325E1441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DAX Studio</a:t>
            </a:r>
          </a:p>
        </p:txBody>
      </p:sp>
      <p:sp>
        <p:nvSpPr>
          <p:cNvPr id="12" name="stage-sub">
            <a:extLst xmlns:a="http://schemas.openxmlformats.org/drawingml/2006/main">
              <a:ext uri="{FF2B5EF4-FFF2-40B4-BE49-F238E27FC236}">
                <a16:creationId xmlns:a16="http://schemas.microsoft.com/office/drawing/2014/main" id="{E2D5F193-0297-4F2A-B428-372B6A8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3943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Measure preview, validation, recommended visual, dashboard placement, and executive interpretation.</a:t>
            </a:r>
          </a:p>
        </p:txBody>
      </p:sp>
      <p:sp>
        <p:nvSpPr>
          <p:cNvPr id="13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328562B6-028C-4312-B057-712341B5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This positions the product as approachable for executives and useful for analysts, without forcing users into separate tools.</a:t>
            </a:r>
          </a:p>
        </p:txBody>
      </p:sp>
      <p:sp>
        <p:nvSpPr>
          <p:cNvPr id="1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FBDA212-AE3E-4405-AB24-7EB57B33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E92E420-1654-4901-AF19-32309DC3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411134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CBBD656-EECB-4E37-A265-ACA549B2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89E48E-A598-494D-AAE3-E8173E14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FF0D09-1E42-4CDF-A652-EAEF9F9C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1472E5F-BD4A-4144-ADB4-5DFE683A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The MVP architecture is modular enough to grow into SaaS.</a:t>
            </a:r>
          </a:p>
        </p:txBody>
      </p:sp>
      <p:sp>
        <p:nvSpPr>
          <p:cNvPr id="5" name="stage-box">
            <a:extLst xmlns:a="http://schemas.openxmlformats.org/drawingml/2006/main">
              <a:ext uri="{FF2B5EF4-FFF2-40B4-BE49-F238E27FC236}">
                <a16:creationId xmlns:a16="http://schemas.microsoft.com/office/drawing/2014/main" id="{D8029706-E6D7-499D-8F9B-B3F3D92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6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7E736237-8B4B-49AE-BFBA-0CE4FDE3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89EA03E-A375-43EF-B7D1-EEE0A8E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Streamlit UI</a:t>
            </a:r>
          </a:p>
        </p:txBody>
      </p:sp>
      <p:sp>
        <p:nvSpPr>
          <p:cNvPr id="8" name="stage-sub">
            <a:extLst xmlns:a="http://schemas.openxmlformats.org/drawingml/2006/main">
              <a:ext uri="{FF2B5EF4-FFF2-40B4-BE49-F238E27FC236}">
                <a16:creationId xmlns:a16="http://schemas.microsoft.com/office/drawing/2014/main" id="{8C7B2D29-DF02-48DB-8EE0-C5E8CBB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Dashboard, SQL Lab, DAX Studio, presentation mode, exports.</a:t>
            </a:r>
          </a:p>
        </p:txBody>
      </p:sp>
      <p:sp>
        <p:nvSpPr>
          <p:cNvPr id="9" name="stage-box">
            <a:extLst xmlns:a="http://schemas.openxmlformats.org/drawingml/2006/main">
              <a:ext uri="{FF2B5EF4-FFF2-40B4-BE49-F238E27FC236}">
                <a16:creationId xmlns:a16="http://schemas.microsoft.com/office/drawing/2014/main" id="{55C67B37-9051-4363-893A-C683D4F6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0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907E78E3-939F-4C67-9198-4A255998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label">
            <a:extLst xmlns:a="http://schemas.openxmlformats.org/drawingml/2006/main">
              <a:ext uri="{FF2B5EF4-FFF2-40B4-BE49-F238E27FC236}">
                <a16:creationId xmlns:a16="http://schemas.microsoft.com/office/drawing/2014/main" id="{D5B70D02-8F80-4AD2-B8F1-759C030A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FastAPI backend</a:t>
            </a:r>
          </a:p>
        </p:txBody>
      </p:sp>
      <p:sp>
        <p:nvSpPr>
          <p:cNvPr id="12" name="stage-sub">
            <a:extLst xmlns:a="http://schemas.openxmlformats.org/drawingml/2006/main">
              <a:ext uri="{FF2B5EF4-FFF2-40B4-BE49-F238E27FC236}">
                <a16:creationId xmlns:a16="http://schemas.microsoft.com/office/drawing/2014/main" id="{4F0177DE-D6F3-4D08-A2E6-B635DD38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Dataset, dashboard, analyst, report, and export routes.</a:t>
            </a:r>
          </a:p>
        </p:txBody>
      </p:sp>
      <p:sp>
        <p:nvSpPr>
          <p:cNvPr id="13" name="stage-box">
            <a:extLst xmlns:a="http://schemas.openxmlformats.org/drawingml/2006/main">
              <a:ext uri="{FF2B5EF4-FFF2-40B4-BE49-F238E27FC236}">
                <a16:creationId xmlns:a16="http://schemas.microsoft.com/office/drawing/2014/main" id="{F14D89C7-4F65-4A66-816C-5FF54B6E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4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D294F16B-EDAC-417B-A9BF-E573BD47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tage-label">
            <a:extLst xmlns:a="http://schemas.openxmlformats.org/drawingml/2006/main">
              <a:ext uri="{FF2B5EF4-FFF2-40B4-BE49-F238E27FC236}">
                <a16:creationId xmlns:a16="http://schemas.microsoft.com/office/drawing/2014/main" id="{3C5671E8-483C-4ABC-BE1B-28B39B8B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6" name="stage-sub">
            <a:extLst xmlns:a="http://schemas.openxmlformats.org/drawingml/2006/main">
              <a:ext uri="{FF2B5EF4-FFF2-40B4-BE49-F238E27FC236}">
                <a16:creationId xmlns:a16="http://schemas.microsoft.com/office/drawing/2014/main" id="{3F1BD579-E352-4CE4-864D-517E5127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KPI, charts, insights, domain intelligence, profiling, exports.</a:t>
            </a:r>
          </a:p>
        </p:txBody>
      </p:sp>
      <p:sp>
        <p:nvSpPr>
          <p:cNvPr id="17" name="stage-box">
            <a:extLst xmlns:a="http://schemas.openxmlformats.org/drawingml/2006/main">
              <a:ext uri="{FF2B5EF4-FFF2-40B4-BE49-F238E27FC236}">
                <a16:creationId xmlns:a16="http://schemas.microsoft.com/office/drawing/2014/main" id="{C15D269D-0C81-4728-866D-BD8BD034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8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BA6FC1E6-96F8-480D-B85F-78F99F57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C354877-DAAB-442C-A7B5-F9B8043E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20" name="stage-sub">
            <a:extLst xmlns:a="http://schemas.openxmlformats.org/drawingml/2006/main">
              <a:ext uri="{FF2B5EF4-FFF2-40B4-BE49-F238E27FC236}">
                <a16:creationId xmlns:a16="http://schemas.microsoft.com/office/drawing/2014/main" id="{BA1201A5-7AB2-4DB9-86C0-EDB65D27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Local-first upload, processed data, metadata, and report payloads.</a:t>
            </a:r>
          </a:p>
        </p:txBody>
      </p:sp>
      <p:sp>
        <p:nvSpPr>
          <p:cNvPr id="2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9045F766-5C97-4A0E-9099-67E462AA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architecture keeps app structure intact while making future auth, workspaces, connectors, and cloud deployment practical.</a:t>
            </a:r>
          </a:p>
        </p:txBody>
      </p:sp>
      <p:sp>
        <p:nvSpPr>
          <p:cNvPr id="2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41E4AE4-2088-4D70-9C65-18BD55C0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426D045-7331-4B60-B930-C13EFFE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80025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6A5991B-BF93-43FB-A988-FFCD64EF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08DDBE-6E5A-49F8-BF84-980FE433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F35BD16-FDB1-4B45-B2BB-BDF18DDE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5E05A3C-C13B-4AB7-BEB0-0043F895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62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A pilot demo can prove value in one clean flow.</a:t>
            </a:r>
          </a:p>
        </p:txBody>
      </p:sp>
      <p:sp>
        <p:nvSpPr>
          <p:cNvPr id="5" name="demo-number">
            <a:extLst xmlns:a="http://schemas.openxmlformats.org/drawingml/2006/main">
              <a:ext uri="{FF2B5EF4-FFF2-40B4-BE49-F238E27FC236}">
                <a16:creationId xmlns:a16="http://schemas.microsoft.com/office/drawing/2014/main" id="{6A0B4566-7C8E-4BEF-BF46-3E9092D2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stage-box">
            <a:extLst xmlns:a="http://schemas.openxmlformats.org/drawingml/2006/main">
              <a:ext uri="{FF2B5EF4-FFF2-40B4-BE49-F238E27FC236}">
                <a16:creationId xmlns:a16="http://schemas.microsoft.com/office/drawing/2014/main" id="{F10E2408-DFD5-492F-8823-9E35F294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A1D2A96D-EA37-4E04-8381-6162FAAF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B1F2C96-B892-4739-9798-F190E976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Upload a CSV</a:t>
            </a:r>
          </a:p>
        </p:txBody>
      </p:sp>
      <p:sp>
        <p:nvSpPr>
          <p:cNvPr id="9" name="stage-sub">
            <a:extLst xmlns:a="http://schemas.openxmlformats.org/drawingml/2006/main">
              <a:ext uri="{FF2B5EF4-FFF2-40B4-BE49-F238E27FC236}">
                <a16:creationId xmlns:a16="http://schemas.microsoft.com/office/drawing/2014/main" id="{3EF193DC-7FE7-4A2A-96E8-9B03439E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Create a dataset record and preview data.</a:t>
            </a:r>
          </a:p>
        </p:txBody>
      </p:sp>
      <p:sp>
        <p:nvSpPr>
          <p:cNvPr id="10" name="demo-number">
            <a:extLst xmlns:a="http://schemas.openxmlformats.org/drawingml/2006/main">
              <a:ext uri="{FF2B5EF4-FFF2-40B4-BE49-F238E27FC236}">
                <a16:creationId xmlns:a16="http://schemas.microsoft.com/office/drawing/2014/main" id="{DC0D3F9D-3B1B-4C34-B174-49BB1F43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stage-box">
            <a:extLst xmlns:a="http://schemas.openxmlformats.org/drawingml/2006/main">
              <a:ext uri="{FF2B5EF4-FFF2-40B4-BE49-F238E27FC236}">
                <a16:creationId xmlns:a16="http://schemas.microsoft.com/office/drawing/2014/main" id="{861D55F7-8ABF-4D99-A631-DE108E50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2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9700354F-E2A6-44BE-88B6-2DCD5BF3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tage-label">
            <a:extLst xmlns:a="http://schemas.openxmlformats.org/drawingml/2006/main">
              <a:ext uri="{FF2B5EF4-FFF2-40B4-BE49-F238E27FC236}">
                <a16:creationId xmlns:a16="http://schemas.microsoft.com/office/drawing/2014/main" id="{DB27FC93-DD96-4AFC-90B5-52FB5C8C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67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Review dashboard</a:t>
            </a:r>
          </a:p>
        </p:txBody>
      </p:sp>
      <p:sp>
        <p:nvSpPr>
          <p:cNvPr id="14" name="stage-sub">
            <a:extLst xmlns:a="http://schemas.openxmlformats.org/drawingml/2006/main">
              <a:ext uri="{FF2B5EF4-FFF2-40B4-BE49-F238E27FC236}">
                <a16:creationId xmlns:a16="http://schemas.microsoft.com/office/drawing/2014/main" id="{3913B22C-915E-488A-A95C-9D693F53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338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KPI cards, charts, quality score, and insights.</a:t>
            </a:r>
          </a:p>
        </p:txBody>
      </p:sp>
      <p:sp>
        <p:nvSpPr>
          <p:cNvPr id="15" name="demo-number">
            <a:extLst xmlns:a="http://schemas.openxmlformats.org/drawingml/2006/main">
              <a:ext uri="{FF2B5EF4-FFF2-40B4-BE49-F238E27FC236}">
                <a16:creationId xmlns:a16="http://schemas.microsoft.com/office/drawing/2014/main" id="{C79C9E49-540D-48BB-B3B5-3E51A3DF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stage-box">
            <a:extLst xmlns:a="http://schemas.openxmlformats.org/drawingml/2006/main">
              <a:ext uri="{FF2B5EF4-FFF2-40B4-BE49-F238E27FC236}">
                <a16:creationId xmlns:a16="http://schemas.microsoft.com/office/drawing/2014/main" id="{E4FDD78B-8FEC-4090-AC0B-4B812E4C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57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7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8E9D463C-8D86-4741-A44B-E2D51E97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575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5383824-9110-44D4-AA68-CA15E067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Ask questions</a:t>
            </a:r>
          </a:p>
        </p:txBody>
      </p:sp>
      <p:sp>
        <p:nvSpPr>
          <p:cNvPr id="19" name="stage-sub">
            <a:extLst xmlns:a="http://schemas.openxmlformats.org/drawingml/2006/main">
              <a:ext uri="{FF2B5EF4-FFF2-40B4-BE49-F238E27FC236}">
                <a16:creationId xmlns:a16="http://schemas.microsoft.com/office/drawing/2014/main" id="{358D158C-948E-4077-92A4-6E9F291F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SQL, DAX, or AI analyst guidance.</a:t>
            </a:r>
          </a:p>
        </p:txBody>
      </p:sp>
      <p:sp>
        <p:nvSpPr>
          <p:cNvPr id="20" name="demo-number">
            <a:extLst xmlns:a="http://schemas.openxmlformats.org/drawingml/2006/main">
              <a:ext uri="{FF2B5EF4-FFF2-40B4-BE49-F238E27FC236}">
                <a16:creationId xmlns:a16="http://schemas.microsoft.com/office/drawing/2014/main" id="{73B1E547-9F75-4838-A7F1-815EB9BC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stage-box">
            <a:extLst xmlns:a="http://schemas.openxmlformats.org/drawingml/2006/main">
              <a:ext uri="{FF2B5EF4-FFF2-40B4-BE49-F238E27FC236}">
                <a16:creationId xmlns:a16="http://schemas.microsoft.com/office/drawing/2014/main" id="{DCC9D238-0E70-4F75-BFB9-EB96CD65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2" name="stage-accent">
            <a:extLst xmlns:a="http://schemas.openxmlformats.org/drawingml/2006/main">
              <a:ext uri="{FF2B5EF4-FFF2-40B4-BE49-F238E27FC236}">
                <a16:creationId xmlns:a16="http://schemas.microsoft.com/office/drawing/2014/main" id="{DFEDC83B-D7D2-494C-A1B5-E8A4F7B2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tage-label">
            <a:extLst xmlns:a="http://schemas.openxmlformats.org/drawingml/2006/main">
              <a:ext uri="{FF2B5EF4-FFF2-40B4-BE49-F238E27FC236}">
                <a16:creationId xmlns:a16="http://schemas.microsoft.com/office/drawing/2014/main" id="{AFE31E21-BEB0-4996-9589-BC4BDEED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Export package</a:t>
            </a:r>
          </a:p>
        </p:txBody>
      </p:sp>
      <p:sp>
        <p:nvSpPr>
          <p:cNvPr id="24" name="stage-sub">
            <a:extLst xmlns:a="http://schemas.openxmlformats.org/drawingml/2006/main">
              <a:ext uri="{FF2B5EF4-FFF2-40B4-BE49-F238E27FC236}">
                <a16:creationId xmlns:a16="http://schemas.microsoft.com/office/drawing/2014/main" id="{5BB8426C-EF5B-41E3-89E7-47159E59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Board-ready PDF/PPTX/XLSX with selected visuals.</a:t>
            </a:r>
          </a:p>
        </p:txBody>
      </p:sp>
      <p:sp>
        <p:nvSpPr>
          <p:cNvPr id="2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8ED4C167-DDF5-438C-B9A1-40DE149A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Pilot promise: use a real buyer dataset, show validated insights, and leave with exportable executive material.</a:t>
            </a:r>
          </a:p>
        </p:txBody>
      </p:sp>
      <p:sp>
        <p:nvSpPr>
          <p:cNvPr id="2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8E9BD0F-BF55-4B70-85EF-C6774E45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C8AB398-38ED-49DE-A26D-97EB3744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34519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324D627-5788-42B0-87FE-5FA613EB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A6677AF-33F9-4BB1-826F-75FABEDE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5EB334C-FE93-453D-990F-A135244E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047F2CA-0ECB-4B9A-B3F6-D8E9600D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roadmap moves from MVP workflow to production SaaS.</a:t>
            </a:r>
          </a:p>
        </p:txBody>
      </p:sp>
      <p:sp>
        <p:nvSpPr>
          <p:cNvPr id="5" name="road-line">
            <a:extLst xmlns:a="http://schemas.openxmlformats.org/drawingml/2006/main">
              <a:ext uri="{FF2B5EF4-FFF2-40B4-BE49-F238E27FC236}">
                <a16:creationId xmlns:a16="http://schemas.microsoft.com/office/drawing/2014/main" id="{7925AC79-7961-4691-B5E5-3122967A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oad-dot">
            <a:extLst xmlns:a="http://schemas.openxmlformats.org/drawingml/2006/main">
              <a:ext uri="{FF2B5EF4-FFF2-40B4-BE49-F238E27FC236}">
                <a16:creationId xmlns:a16="http://schemas.microsoft.com/office/drawing/2014/main" id="{EA73ACA3-5A29-42D4-8339-A7CE1998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oad-phase">
            <a:extLst xmlns:a="http://schemas.openxmlformats.org/drawingml/2006/main">
              <a:ext uri="{FF2B5EF4-FFF2-40B4-BE49-F238E27FC236}">
                <a16:creationId xmlns:a16="http://schemas.microsoft.com/office/drawing/2014/main" id="{CE5D4AA5-0159-4EDB-87A1-98C06BDF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8" name="road-title">
            <a:extLst xmlns:a="http://schemas.openxmlformats.org/drawingml/2006/main">
              <a:ext uri="{FF2B5EF4-FFF2-40B4-BE49-F238E27FC236}">
                <a16:creationId xmlns:a16="http://schemas.microsoft.com/office/drawing/2014/main" id="{3534DF62-9C66-4EFD-8BB4-C02C70FA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Local-first MVP</a:t>
            </a:r>
          </a:p>
        </p:txBody>
      </p:sp>
      <p:sp>
        <p:nvSpPr>
          <p:cNvPr id="9" name="road-copy">
            <a:extLst xmlns:a="http://schemas.openxmlformats.org/drawingml/2006/main">
              <a:ext uri="{FF2B5EF4-FFF2-40B4-BE49-F238E27FC236}">
                <a16:creationId xmlns:a16="http://schemas.microsoft.com/office/drawing/2014/main" id="{535D0F7E-72F5-41B8-BC63-E49B536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Upload, dashboard, analyst logic, exports.</a:t>
            </a:r>
          </a:p>
        </p:txBody>
      </p:sp>
      <p:sp>
        <p:nvSpPr>
          <p:cNvPr id="10" name="road-line">
            <a:extLst xmlns:a="http://schemas.openxmlformats.org/drawingml/2006/main">
              <a:ext uri="{FF2B5EF4-FFF2-40B4-BE49-F238E27FC236}">
                <a16:creationId xmlns:a16="http://schemas.microsoft.com/office/drawing/2014/main" id="{A17F54B4-3CD8-4D55-A6FA-B8118203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oad-dot">
            <a:extLst xmlns:a="http://schemas.openxmlformats.org/drawingml/2006/main">
              <a:ext uri="{FF2B5EF4-FFF2-40B4-BE49-F238E27FC236}">
                <a16:creationId xmlns:a16="http://schemas.microsoft.com/office/drawing/2014/main" id="{CB29A1E4-4036-4476-B4B1-67E2CC83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ad-phase">
            <a:extLst xmlns:a="http://schemas.openxmlformats.org/drawingml/2006/main">
              <a:ext uri="{FF2B5EF4-FFF2-40B4-BE49-F238E27FC236}">
                <a16:creationId xmlns:a16="http://schemas.microsoft.com/office/drawing/2014/main" id="{2389E448-E8BC-4BD1-98B5-91AA0F82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3" name="road-title">
            <a:extLst xmlns:a="http://schemas.openxmlformats.org/drawingml/2006/main">
              <a:ext uri="{FF2B5EF4-FFF2-40B4-BE49-F238E27FC236}">
                <a16:creationId xmlns:a16="http://schemas.microsoft.com/office/drawing/2014/main" id="{9BC4D45C-A1A8-402F-8EEF-84BCF823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38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SaaS foundation</a:t>
            </a:r>
          </a:p>
        </p:txBody>
      </p:sp>
      <p:sp>
        <p:nvSpPr>
          <p:cNvPr id="14" name="road-copy">
            <a:extLst xmlns:a="http://schemas.openxmlformats.org/drawingml/2006/main">
              <a:ext uri="{FF2B5EF4-FFF2-40B4-BE49-F238E27FC236}">
                <a16:creationId xmlns:a16="http://schemas.microsoft.com/office/drawing/2014/main" id="{A0CB0ECF-ECAB-4C11-A56A-C6C7C2AA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Auth, organizations, saved reports, billing-ready structure.</a:t>
            </a:r>
          </a:p>
        </p:txBody>
      </p:sp>
      <p:sp>
        <p:nvSpPr>
          <p:cNvPr id="15" name="road-line">
            <a:extLst xmlns:a="http://schemas.openxmlformats.org/drawingml/2006/main">
              <a:ext uri="{FF2B5EF4-FFF2-40B4-BE49-F238E27FC236}">
                <a16:creationId xmlns:a16="http://schemas.microsoft.com/office/drawing/2014/main" id="{EAEA238B-8396-4B17-B1D1-83EEDE76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oad-dot">
            <a:extLst xmlns:a="http://schemas.openxmlformats.org/drawingml/2006/main">
              <a:ext uri="{FF2B5EF4-FFF2-40B4-BE49-F238E27FC236}">
                <a16:creationId xmlns:a16="http://schemas.microsoft.com/office/drawing/2014/main" id="{71CA5B25-9B77-4635-BEFF-20DD5008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oad-phase">
            <a:extLst xmlns:a="http://schemas.openxmlformats.org/drawingml/2006/main">
              <a:ext uri="{FF2B5EF4-FFF2-40B4-BE49-F238E27FC236}">
                <a16:creationId xmlns:a16="http://schemas.microsoft.com/office/drawing/2014/main" id="{B2E9DC3D-4384-4161-90B9-3940F70B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Then</a:t>
            </a:r>
          </a:p>
        </p:txBody>
      </p:sp>
      <p:sp>
        <p:nvSpPr>
          <p:cNvPr id="18" name="road-title">
            <a:extLst xmlns:a="http://schemas.openxmlformats.org/drawingml/2006/main">
              <a:ext uri="{FF2B5EF4-FFF2-40B4-BE49-F238E27FC236}">
                <a16:creationId xmlns:a16="http://schemas.microsoft.com/office/drawing/2014/main" id="{960F2EC5-16B4-4EF2-9A1D-C5BE9E27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Data connectors</a:t>
            </a:r>
          </a:p>
        </p:txBody>
      </p:sp>
      <p:sp>
        <p:nvSpPr>
          <p:cNvPr id="19" name="road-copy">
            <a:extLst xmlns:a="http://schemas.openxmlformats.org/drawingml/2006/main">
              <a:ext uri="{FF2B5EF4-FFF2-40B4-BE49-F238E27FC236}">
                <a16:creationId xmlns:a16="http://schemas.microsoft.com/office/drawing/2014/main" id="{3410D2B2-B19A-4C72-A38B-7046E4C2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Databases, cloud files, scheduled refresh, governed datasets.</a:t>
            </a:r>
          </a:p>
        </p:txBody>
      </p:sp>
      <p:sp>
        <p:nvSpPr>
          <p:cNvPr id="20" name="road-line">
            <a:extLst xmlns:a="http://schemas.openxmlformats.org/drawingml/2006/main">
              <a:ext uri="{FF2B5EF4-FFF2-40B4-BE49-F238E27FC236}">
                <a16:creationId xmlns:a16="http://schemas.microsoft.com/office/drawing/2014/main" id="{F2F6771D-BE97-4BD7-AB52-6E52D46D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oad-dot">
            <a:extLst xmlns:a="http://schemas.openxmlformats.org/drawingml/2006/main">
              <a:ext uri="{FF2B5EF4-FFF2-40B4-BE49-F238E27FC236}">
                <a16:creationId xmlns:a16="http://schemas.microsoft.com/office/drawing/2014/main" id="{F1F34B76-EF66-4D17-A159-08AB0F3C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oad-phase">
            <a:extLst xmlns:a="http://schemas.openxmlformats.org/drawingml/2006/main">
              <a:ext uri="{FF2B5EF4-FFF2-40B4-BE49-F238E27FC236}">
                <a16:creationId xmlns:a16="http://schemas.microsoft.com/office/drawing/2014/main" id="{11FF2DDA-2BA3-42BC-843A-12B4ED5C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3" name="road-title">
            <a:extLst xmlns:a="http://schemas.openxmlformats.org/drawingml/2006/main">
              <a:ext uri="{FF2B5EF4-FFF2-40B4-BE49-F238E27FC236}">
                <a16:creationId xmlns:a16="http://schemas.microsoft.com/office/drawing/2014/main" id="{42ADB4E0-C72C-4F5A-9260-DF9A3DBA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Decision intelligence</a:t>
            </a:r>
          </a:p>
        </p:txBody>
      </p:sp>
      <p:sp>
        <p:nvSpPr>
          <p:cNvPr id="24" name="road-copy">
            <a:extLst xmlns:a="http://schemas.openxmlformats.org/drawingml/2006/main">
              <a:ext uri="{FF2B5EF4-FFF2-40B4-BE49-F238E27FC236}">
                <a16:creationId xmlns:a16="http://schemas.microsoft.com/office/drawing/2014/main" id="{1B42CDF1-2DEE-46BD-9104-3C7214E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Forecasting, alerts, collaboration, enterprise controls.</a:t>
            </a:r>
          </a:p>
        </p:txBody>
      </p:sp>
      <p:sp>
        <p:nvSpPr>
          <p:cNvPr id="2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959D0EE-8B53-45D3-8B24-63E3B3BD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The current product is demoable today while the architecture leaves room for enterprise-grade growth.</a:t>
            </a:r>
          </a:p>
        </p:txBody>
      </p:sp>
      <p:sp>
        <p:nvSpPr>
          <p:cNvPr id="2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B4A86C1-BC73-4096-9D1E-887FE328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2A091A2-AF30-4EC4-BC42-55FC4C62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0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0C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65312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BC05521-B742-49D4-92C6-9EA35120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5EC992-6101-4D83-947E-D969A836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756084C-43E6-415E-A713-3A0BE7C0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CALL TO ACTION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250FEFE-B698-4100-9DD6-E751877D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Start with one dataset, one executive workflow, and one export-ready decision.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9261ECBF-A45E-429D-9A52-80AB9B3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Best pilot shape: choose a real business dataset, validate the KPI logic, generate a dashboard, ask targeted questions, and export a board-ready package.</a:t>
            </a:r>
          </a:p>
        </p:txBody>
      </p:sp>
      <p:sp>
        <p:nvSpPr>
          <p:cNvPr id="6" name="metric-container">
            <a:extLst xmlns:a="http://schemas.openxmlformats.org/drawingml/2006/main">
              <a:ext uri="{FF2B5EF4-FFF2-40B4-BE49-F238E27FC236}">
                <a16:creationId xmlns:a16="http://schemas.microsoft.com/office/drawing/2014/main" id="{2448C1BA-E147-4E3C-ABE7-B0299F3E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6787817A-3817-4A9D-9459-9EF71DC1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E2A4EFC-F67B-40CF-A6B8-098A915F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28FE4F3-E935-44D0-8A4C-4C9F2AE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05225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1-2 datasets</a:t>
            </a:r>
          </a:p>
        </p:txBody>
      </p:sp>
      <p:sp>
        <p:nvSpPr>
          <p:cNvPr id="10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F28302FA-F95F-4FC1-9400-85E7C12E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real data from sales, churn, finance, operations, or healthcare.</a:t>
            </a:r>
          </a:p>
        </p:txBody>
      </p:sp>
      <p:sp>
        <p:nvSpPr>
          <p:cNvPr id="11" name="metric-container">
            <a:extLst xmlns:a="http://schemas.openxmlformats.org/drawingml/2006/main">
              <a:ext uri="{FF2B5EF4-FFF2-40B4-BE49-F238E27FC236}">
                <a16:creationId xmlns:a16="http://schemas.microsoft.com/office/drawing/2014/main" id="{CD124D14-2808-45CB-81DD-7E47425F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E48B6BED-4C78-41A4-A824-26A661CA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7816766-780C-4C13-B782-A7E7E3AB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718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6BA71EE-F483-472C-81D8-406E78C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05225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dashboard + report</a:t>
            </a:r>
          </a:p>
        </p:txBody>
      </p:sp>
      <p:sp>
        <p:nvSpPr>
          <p:cNvPr id="15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51A180C0-60C1-43F2-A850-398DED1B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4335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Show KPIs, charts, quality, insights, and recommendations.</a:t>
            </a:r>
          </a:p>
        </p:txBody>
      </p:sp>
      <p:sp>
        <p:nvSpPr>
          <p:cNvPr id="16" name="metric-container">
            <a:extLst xmlns:a="http://schemas.openxmlformats.org/drawingml/2006/main">
              <a:ext uri="{FF2B5EF4-FFF2-40B4-BE49-F238E27FC236}">
                <a16:creationId xmlns:a16="http://schemas.microsoft.com/office/drawing/2014/main" id="{61FF5EDA-73C1-4995-B38B-4ADB6735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C6236232-5F1C-4047-BE00-B9C15439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CD607E7D-6F9F-4897-987A-6AF77817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E34E883-0E10-4A2F-8277-F4248DED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05225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next SaaS scope</a:t>
            </a:r>
          </a:p>
        </p:txBody>
      </p:sp>
      <p:sp>
        <p:nvSpPr>
          <p:cNvPr id="20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8942158-492B-40ED-B646-AFA14DA4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Prioritize auth, connectors, collaboration, and deployment.</a:t>
            </a:r>
          </a:p>
        </p:txBody>
      </p:sp>
      <p:sp>
        <p:nvSpPr>
          <p:cNvPr id="21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CFB11BB2-5449-4162-8A58-2E459E94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Positioning line: from dashboard visibility to executive decision intelligence.</a:t>
            </a:r>
          </a:p>
        </p:txBody>
      </p:sp>
      <p:sp>
        <p:nvSpPr>
          <p:cNvPr id="2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5B159DF-E465-4EBC-8607-9D997D27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Analytics SaaS MVP | Sales introduction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FA5163-76D2-413C-944F-CC6858F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1454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2026-06-13T17:41:51.5470000Z</dcterms:created>
  <dcterms:modified xsi:type="dcterms:W3CDTF">2026-06-13T17:41:51.5470000Z</dcterms:modified>
</coreProperties>
</file>