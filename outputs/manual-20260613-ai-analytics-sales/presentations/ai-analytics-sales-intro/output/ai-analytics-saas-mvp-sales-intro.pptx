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67" d="100"/>
          <a:sy n="67" d="100"/>
        </p:scale>
        <p:origin x="83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background">
            <a:extLst>
              <a:ext uri="{FF2B5EF4-FFF2-40B4-BE49-F238E27FC236}">
                <a16:creationId xmlns:a16="http://schemas.microsoft.com/office/drawing/2014/main" id="{D96E9BAC-67F9-4548-A97B-652FB09DA63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>
              <a:ext uri="{FF2B5EF4-FFF2-40B4-BE49-F238E27FC236}">
                <a16:creationId xmlns:a16="http://schemas.microsoft.com/office/drawing/2014/main" id="{EAB249DC-2424-48CC-83DB-FEB908102A6C}"/>
              </a:ext>
            </a:extLst>
          </p:cNvPr>
          <p:cNvSpPr>
            <a:spLocks noGrp="1"/>
          </p:cNvSpPr>
          <p:nvPr/>
        </p:nvSpPr>
        <p:spPr>
          <a:xfrm>
            <a:off x="609600" y="552450"/>
            <a:ext cx="323850" cy="28575"/>
          </a:xfrm>
          <a:prstGeom prst="rect">
            <a:avLst/>
          </a:prstGeom>
          <a:solidFill>
            <a:srgbClr val="22D3E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>
              <a:ext uri="{FF2B5EF4-FFF2-40B4-BE49-F238E27FC236}">
                <a16:creationId xmlns:a16="http://schemas.microsoft.com/office/drawing/2014/main" id="{1C1A764A-B1E4-4AC3-80D4-B4E89FA82993}"/>
              </a:ext>
            </a:extLst>
          </p:cNvPr>
          <p:cNvSpPr>
            <a:spLocks noGrp="1"/>
          </p:cNvSpPr>
          <p:nvPr/>
        </p:nvSpPr>
        <p:spPr>
          <a:xfrm>
            <a:off x="1047750" y="476250"/>
            <a:ext cx="342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22D3EE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2D3EE"/>
                </a:solidFill>
                <a:latin typeface="Aptos"/>
                <a:ea typeface="Aptos"/>
                <a:cs typeface="Aptos"/>
              </a:rPr>
              <a:t>PRODUCT INTRO</a:t>
            </a:r>
          </a:p>
        </p:txBody>
      </p:sp>
      <p:sp>
        <p:nvSpPr>
          <p:cNvPr id="4" name="claim-title">
            <a:extLst>
              <a:ext uri="{FF2B5EF4-FFF2-40B4-BE49-F238E27FC236}">
                <a16:creationId xmlns:a16="http://schemas.microsoft.com/office/drawing/2014/main" id="{D24482CE-81F4-4F39-A697-22277A50E185}"/>
              </a:ext>
            </a:extLst>
          </p:cNvPr>
          <p:cNvSpPr>
            <a:spLocks noGrp="1"/>
          </p:cNvSpPr>
          <p:nvPr/>
        </p:nvSpPr>
        <p:spPr>
          <a:xfrm>
            <a:off x="609600" y="990600"/>
            <a:ext cx="6572250" cy="1562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3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AI Analytics SaaS MVP turns raw data into executive decisions.</a:t>
            </a:r>
          </a:p>
        </p:txBody>
      </p:sp>
      <p:sp>
        <p:nvSpPr>
          <p:cNvPr id="5" name="support-note">
            <a:extLst>
              <a:ext uri="{FF2B5EF4-FFF2-40B4-BE49-F238E27FC236}">
                <a16:creationId xmlns:a16="http://schemas.microsoft.com/office/drawing/2014/main" id="{E3E74CEA-F46D-456F-A66C-71B6B26B67D2}"/>
              </a:ext>
            </a:extLst>
          </p:cNvPr>
          <p:cNvSpPr>
            <a:spLocks noGrp="1"/>
          </p:cNvSpPr>
          <p:nvPr/>
        </p:nvSpPr>
        <p:spPr>
          <a:xfrm>
            <a:off x="647700" y="2647950"/>
            <a:ext cx="6667500" cy="704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0">
                <a:solidFill>
                  <a:srgbClr val="D8DEE9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D8DEE9"/>
                </a:solidFill>
                <a:latin typeface="Aptos"/>
                <a:ea typeface="Aptos"/>
                <a:cs typeface="Aptos"/>
              </a:rPr>
              <a:t>A local-first analytics platform that uploads datasets, validates metrics, builds dashboards, explains business meaning, and exports board-ready reports.</a:t>
            </a:r>
          </a:p>
        </p:txBody>
      </p:sp>
      <p:sp>
        <p:nvSpPr>
          <p:cNvPr id="6" name="metric-container">
            <a:extLst>
              <a:ext uri="{FF2B5EF4-FFF2-40B4-BE49-F238E27FC236}">
                <a16:creationId xmlns:a16="http://schemas.microsoft.com/office/drawing/2014/main" id="{6A74EFD3-5E06-4ADD-89EC-77F5159661EF}"/>
              </a:ext>
            </a:extLst>
          </p:cNvPr>
          <p:cNvSpPr>
            <a:spLocks noGrp="1"/>
          </p:cNvSpPr>
          <p:nvPr/>
        </p:nvSpPr>
        <p:spPr>
          <a:xfrm>
            <a:off x="7696200" y="914400"/>
            <a:ext cx="3143250" cy="1238250"/>
          </a:xfrm>
          <a:prstGeom prst="rect">
            <a:avLst/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7" name="metric-accent">
            <a:extLst>
              <a:ext uri="{FF2B5EF4-FFF2-40B4-BE49-F238E27FC236}">
                <a16:creationId xmlns:a16="http://schemas.microsoft.com/office/drawing/2014/main" id="{9A03213E-B3C3-4F3F-BFFF-338B26F78465}"/>
              </a:ext>
            </a:extLst>
          </p:cNvPr>
          <p:cNvSpPr>
            <a:spLocks noGrp="1"/>
          </p:cNvSpPr>
          <p:nvPr/>
        </p:nvSpPr>
        <p:spPr>
          <a:xfrm>
            <a:off x="7696200" y="914400"/>
            <a:ext cx="47625" cy="1238250"/>
          </a:xfrm>
          <a:prstGeom prst="rect">
            <a:avLst/>
          </a:prstGeom>
          <a:solidFill>
            <a:srgbClr val="22D3E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metric-value">
            <a:extLst>
              <a:ext uri="{FF2B5EF4-FFF2-40B4-BE49-F238E27FC236}">
                <a16:creationId xmlns:a16="http://schemas.microsoft.com/office/drawing/2014/main" id="{9DB6378D-7662-47F6-9D91-0B7F89DEF525}"/>
              </a:ext>
            </a:extLst>
          </p:cNvPr>
          <p:cNvSpPr>
            <a:spLocks noGrp="1"/>
          </p:cNvSpPr>
          <p:nvPr/>
        </p:nvSpPr>
        <p:spPr>
          <a:xfrm>
            <a:off x="7905750" y="1066800"/>
            <a:ext cx="28003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0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Upload</a:t>
            </a:r>
          </a:p>
        </p:txBody>
      </p:sp>
      <p:sp>
        <p:nvSpPr>
          <p:cNvPr id="9" name="metric-label">
            <a:extLst>
              <a:ext uri="{FF2B5EF4-FFF2-40B4-BE49-F238E27FC236}">
                <a16:creationId xmlns:a16="http://schemas.microsoft.com/office/drawing/2014/main" id="{2BDA04BB-E05D-4318-89B2-2093291DD12B}"/>
              </a:ext>
            </a:extLst>
          </p:cNvPr>
          <p:cNvSpPr>
            <a:spLocks noGrp="1"/>
          </p:cNvSpPr>
          <p:nvPr/>
        </p:nvSpPr>
        <p:spPr>
          <a:xfrm>
            <a:off x="7905750" y="1400175"/>
            <a:ext cx="28003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22D3E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2D3EE"/>
                </a:solidFill>
                <a:latin typeface="Aptos"/>
                <a:ea typeface="Aptos"/>
                <a:cs typeface="Aptos"/>
              </a:rPr>
              <a:t>CSV to dataset record</a:t>
            </a:r>
          </a:p>
        </p:txBody>
      </p:sp>
      <p:sp>
        <p:nvSpPr>
          <p:cNvPr id="10" name="metric-context">
            <a:extLst>
              <a:ext uri="{FF2B5EF4-FFF2-40B4-BE49-F238E27FC236}">
                <a16:creationId xmlns:a16="http://schemas.microsoft.com/office/drawing/2014/main" id="{B4507DF0-F0F6-41A6-827F-A2C5A9473CFA}"/>
              </a:ext>
            </a:extLst>
          </p:cNvPr>
          <p:cNvSpPr>
            <a:spLocks noGrp="1"/>
          </p:cNvSpPr>
          <p:nvPr/>
        </p:nvSpPr>
        <p:spPr>
          <a:xfrm>
            <a:off x="7905750" y="1638300"/>
            <a:ext cx="28003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A7B0C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A7B0C0"/>
                </a:solidFill>
                <a:latin typeface="Aptos"/>
                <a:ea typeface="Aptos"/>
                <a:cs typeface="Aptos"/>
              </a:rPr>
              <a:t>Data lifecycle, profiling, schema, and dashboard payload.</a:t>
            </a:r>
          </a:p>
        </p:txBody>
      </p:sp>
      <p:sp>
        <p:nvSpPr>
          <p:cNvPr id="11" name="metric-container">
            <a:extLst>
              <a:ext uri="{FF2B5EF4-FFF2-40B4-BE49-F238E27FC236}">
                <a16:creationId xmlns:a16="http://schemas.microsoft.com/office/drawing/2014/main" id="{461E0672-FB87-4FCD-85CE-AE7D5676B9F9}"/>
              </a:ext>
            </a:extLst>
          </p:cNvPr>
          <p:cNvSpPr>
            <a:spLocks noGrp="1"/>
          </p:cNvSpPr>
          <p:nvPr/>
        </p:nvSpPr>
        <p:spPr>
          <a:xfrm>
            <a:off x="7696200" y="2286000"/>
            <a:ext cx="3143250" cy="1238250"/>
          </a:xfrm>
          <a:prstGeom prst="rect">
            <a:avLst/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2" name="metric-accent">
            <a:extLst>
              <a:ext uri="{FF2B5EF4-FFF2-40B4-BE49-F238E27FC236}">
                <a16:creationId xmlns:a16="http://schemas.microsoft.com/office/drawing/2014/main" id="{8FBF4378-4A15-44CA-8960-E84E95AB1B2F}"/>
              </a:ext>
            </a:extLst>
          </p:cNvPr>
          <p:cNvSpPr>
            <a:spLocks noGrp="1"/>
          </p:cNvSpPr>
          <p:nvPr/>
        </p:nvSpPr>
        <p:spPr>
          <a:xfrm>
            <a:off x="7696200" y="2286000"/>
            <a:ext cx="47625" cy="1238250"/>
          </a:xfrm>
          <a:prstGeom prst="rect">
            <a:avLst/>
          </a:prstGeom>
          <a:solidFill>
            <a:srgbClr val="F59E0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metric-value">
            <a:extLst>
              <a:ext uri="{FF2B5EF4-FFF2-40B4-BE49-F238E27FC236}">
                <a16:creationId xmlns:a16="http://schemas.microsoft.com/office/drawing/2014/main" id="{A10C7262-65F7-4FA4-B808-A20ECBFAC2F4}"/>
              </a:ext>
            </a:extLst>
          </p:cNvPr>
          <p:cNvSpPr>
            <a:spLocks noGrp="1"/>
          </p:cNvSpPr>
          <p:nvPr/>
        </p:nvSpPr>
        <p:spPr>
          <a:xfrm>
            <a:off x="7905750" y="2438400"/>
            <a:ext cx="28003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0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Analyze</a:t>
            </a:r>
          </a:p>
        </p:txBody>
      </p:sp>
      <p:sp>
        <p:nvSpPr>
          <p:cNvPr id="14" name="metric-label">
            <a:extLst>
              <a:ext uri="{FF2B5EF4-FFF2-40B4-BE49-F238E27FC236}">
                <a16:creationId xmlns:a16="http://schemas.microsoft.com/office/drawing/2014/main" id="{D69A70BF-0006-4F12-BDCC-B3A8318D38D8}"/>
              </a:ext>
            </a:extLst>
          </p:cNvPr>
          <p:cNvSpPr>
            <a:spLocks noGrp="1"/>
          </p:cNvSpPr>
          <p:nvPr/>
        </p:nvSpPr>
        <p:spPr>
          <a:xfrm>
            <a:off x="7905750" y="2771775"/>
            <a:ext cx="28003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Evidence-first intelligence</a:t>
            </a:r>
          </a:p>
        </p:txBody>
      </p:sp>
      <p:sp>
        <p:nvSpPr>
          <p:cNvPr id="15" name="metric-context">
            <a:extLst>
              <a:ext uri="{FF2B5EF4-FFF2-40B4-BE49-F238E27FC236}">
                <a16:creationId xmlns:a16="http://schemas.microsoft.com/office/drawing/2014/main" id="{DAA8A820-0CAD-4712-8256-E742D04A5961}"/>
              </a:ext>
            </a:extLst>
          </p:cNvPr>
          <p:cNvSpPr>
            <a:spLocks noGrp="1"/>
          </p:cNvSpPr>
          <p:nvPr/>
        </p:nvSpPr>
        <p:spPr>
          <a:xfrm>
            <a:off x="7905750" y="3009900"/>
            <a:ext cx="28003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A7B0C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A7B0C0"/>
                </a:solidFill>
                <a:latin typeface="Aptos"/>
                <a:ea typeface="Aptos"/>
                <a:cs typeface="Aptos"/>
              </a:rPr>
              <a:t>Metric suitability, KPIs, insights, questions, SQL, and DAX.</a:t>
            </a:r>
          </a:p>
        </p:txBody>
      </p:sp>
      <p:sp>
        <p:nvSpPr>
          <p:cNvPr id="16" name="metric-container">
            <a:extLst>
              <a:ext uri="{FF2B5EF4-FFF2-40B4-BE49-F238E27FC236}">
                <a16:creationId xmlns:a16="http://schemas.microsoft.com/office/drawing/2014/main" id="{D57ECC4E-E117-4761-BEAF-73A11DA8258D}"/>
              </a:ext>
            </a:extLst>
          </p:cNvPr>
          <p:cNvSpPr>
            <a:spLocks noGrp="1"/>
          </p:cNvSpPr>
          <p:nvPr/>
        </p:nvSpPr>
        <p:spPr>
          <a:xfrm>
            <a:off x="7696200" y="3657600"/>
            <a:ext cx="3143250" cy="1238250"/>
          </a:xfrm>
          <a:prstGeom prst="rect">
            <a:avLst/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7" name="metric-accent">
            <a:extLst>
              <a:ext uri="{FF2B5EF4-FFF2-40B4-BE49-F238E27FC236}">
                <a16:creationId xmlns:a16="http://schemas.microsoft.com/office/drawing/2014/main" id="{830EC820-4ACE-4B30-B018-549BBCC65160}"/>
              </a:ext>
            </a:extLst>
          </p:cNvPr>
          <p:cNvSpPr>
            <a:spLocks noGrp="1"/>
          </p:cNvSpPr>
          <p:nvPr/>
        </p:nvSpPr>
        <p:spPr>
          <a:xfrm>
            <a:off x="7696200" y="3657600"/>
            <a:ext cx="47625" cy="1238250"/>
          </a:xfrm>
          <a:prstGeom prst="rect">
            <a:avLst/>
          </a:prstGeom>
          <a:solidFill>
            <a:srgbClr val="10B98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metric-value">
            <a:extLst>
              <a:ext uri="{FF2B5EF4-FFF2-40B4-BE49-F238E27FC236}">
                <a16:creationId xmlns:a16="http://schemas.microsoft.com/office/drawing/2014/main" id="{450BE30B-0860-4861-8051-7099D6B81500}"/>
              </a:ext>
            </a:extLst>
          </p:cNvPr>
          <p:cNvSpPr>
            <a:spLocks noGrp="1"/>
          </p:cNvSpPr>
          <p:nvPr/>
        </p:nvSpPr>
        <p:spPr>
          <a:xfrm>
            <a:off x="7905750" y="3810000"/>
            <a:ext cx="28003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0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Present</a:t>
            </a:r>
          </a:p>
        </p:txBody>
      </p:sp>
      <p:sp>
        <p:nvSpPr>
          <p:cNvPr id="19" name="metric-label">
            <a:extLst>
              <a:ext uri="{FF2B5EF4-FFF2-40B4-BE49-F238E27FC236}">
                <a16:creationId xmlns:a16="http://schemas.microsoft.com/office/drawing/2014/main" id="{3997573D-934A-4639-8CF7-F65BA8539419}"/>
              </a:ext>
            </a:extLst>
          </p:cNvPr>
          <p:cNvSpPr>
            <a:spLocks noGrp="1"/>
          </p:cNvSpPr>
          <p:nvPr/>
        </p:nvSpPr>
        <p:spPr>
          <a:xfrm>
            <a:off x="7905750" y="4143375"/>
            <a:ext cx="28003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0B98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B981"/>
                </a:solidFill>
                <a:latin typeface="Aptos"/>
                <a:ea typeface="Aptos"/>
                <a:cs typeface="Aptos"/>
              </a:rPr>
              <a:t>PDF, PPTX, XLSX</a:t>
            </a:r>
          </a:p>
        </p:txBody>
      </p:sp>
      <p:sp>
        <p:nvSpPr>
          <p:cNvPr id="20" name="metric-context">
            <a:extLst>
              <a:ext uri="{FF2B5EF4-FFF2-40B4-BE49-F238E27FC236}">
                <a16:creationId xmlns:a16="http://schemas.microsoft.com/office/drawing/2014/main" id="{73A8A215-C4B9-4BE8-A85C-549DB3ED680E}"/>
              </a:ext>
            </a:extLst>
          </p:cNvPr>
          <p:cNvSpPr>
            <a:spLocks noGrp="1"/>
          </p:cNvSpPr>
          <p:nvPr/>
        </p:nvSpPr>
        <p:spPr>
          <a:xfrm>
            <a:off x="7905750" y="4381500"/>
            <a:ext cx="28003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A7B0C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A7B0C0"/>
                </a:solidFill>
                <a:latin typeface="Aptos"/>
                <a:ea typeface="Aptos"/>
                <a:cs typeface="Aptos"/>
              </a:rPr>
              <a:t>Executive-ready exports with selected visuals and summaries.</a:t>
            </a:r>
          </a:p>
        </p:txBody>
      </p:sp>
      <p:sp>
        <p:nvSpPr>
          <p:cNvPr id="21" name="pill-box">
            <a:extLst>
              <a:ext uri="{FF2B5EF4-FFF2-40B4-BE49-F238E27FC236}">
                <a16:creationId xmlns:a16="http://schemas.microsoft.com/office/drawing/2014/main" id="{F9F368AE-6103-4754-9999-BAE271083A85}"/>
              </a:ext>
            </a:extLst>
          </p:cNvPr>
          <p:cNvSpPr>
            <a:spLocks noGrp="1"/>
          </p:cNvSpPr>
          <p:nvPr/>
        </p:nvSpPr>
        <p:spPr>
          <a:xfrm>
            <a:off x="647700" y="3962400"/>
            <a:ext cx="4476750" cy="323850"/>
          </a:xfrm>
          <a:prstGeom prst="rect">
            <a:avLst/>
          </a:prstGeom>
          <a:solidFill>
            <a:srgbClr val="152033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22" name="pill-text">
            <a:extLst>
              <a:ext uri="{FF2B5EF4-FFF2-40B4-BE49-F238E27FC236}">
                <a16:creationId xmlns:a16="http://schemas.microsoft.com/office/drawing/2014/main" id="{ABFE94C7-23F3-4ADB-BB02-D473558355F7}"/>
              </a:ext>
            </a:extLst>
          </p:cNvPr>
          <p:cNvSpPr>
            <a:spLocks noGrp="1"/>
          </p:cNvSpPr>
          <p:nvPr/>
        </p:nvSpPr>
        <p:spPr>
          <a:xfrm>
            <a:off x="771525" y="4029075"/>
            <a:ext cx="42291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2D3E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2D3EE"/>
                </a:solidFill>
                <a:latin typeface="Aptos"/>
                <a:ea typeface="Aptos"/>
                <a:cs typeface="Aptos"/>
              </a:rPr>
              <a:t>Built for founders, executives, analysts, and pilot customers</a:t>
            </a:r>
          </a:p>
        </p:txBody>
      </p:sp>
      <p:sp>
        <p:nvSpPr>
          <p:cNvPr id="23" name="footer-label">
            <a:extLst>
              <a:ext uri="{FF2B5EF4-FFF2-40B4-BE49-F238E27FC236}">
                <a16:creationId xmlns:a16="http://schemas.microsoft.com/office/drawing/2014/main" id="{23C6B86B-1DFB-4609-8932-5916F8352059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4000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A7B0C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A7B0C0"/>
                </a:solidFill>
                <a:latin typeface="Aptos"/>
                <a:ea typeface="Aptos"/>
                <a:cs typeface="Aptos"/>
              </a:rPr>
              <a:t>AI Analytics SaaS MVP | Sales introduction</a:t>
            </a:r>
          </a:p>
        </p:txBody>
      </p:sp>
      <p:sp>
        <p:nvSpPr>
          <p:cNvPr id="24" name="footer-page">
            <a:extLst>
              <a:ext uri="{FF2B5EF4-FFF2-40B4-BE49-F238E27FC236}">
                <a16:creationId xmlns:a16="http://schemas.microsoft.com/office/drawing/2014/main" id="{B4544BFF-8C64-4E5B-BA0E-F44132472F6A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4572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A7B0C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A7B0C0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6372016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background">
            <a:extLst>
              <a:ext uri="{FF2B5EF4-FFF2-40B4-BE49-F238E27FC236}">
                <a16:creationId xmlns:a16="http://schemas.microsoft.com/office/drawing/2014/main" id="{84936F00-CF47-4175-8E2F-3AF5E4A8DE2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>
              <a:ext uri="{FF2B5EF4-FFF2-40B4-BE49-F238E27FC236}">
                <a16:creationId xmlns:a16="http://schemas.microsoft.com/office/drawing/2014/main" id="{F9AD8A5C-CBFC-4315-B7AC-D1C4F25AADCF}"/>
              </a:ext>
            </a:extLst>
          </p:cNvPr>
          <p:cNvSpPr>
            <a:spLocks noGrp="1"/>
          </p:cNvSpPr>
          <p:nvPr/>
        </p:nvSpPr>
        <p:spPr>
          <a:xfrm>
            <a:off x="609600" y="533400"/>
            <a:ext cx="323850" cy="28575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>
              <a:ext uri="{FF2B5EF4-FFF2-40B4-BE49-F238E27FC236}">
                <a16:creationId xmlns:a16="http://schemas.microsoft.com/office/drawing/2014/main" id="{1357BA1C-B1AA-470A-9F52-683CE6239468}"/>
              </a:ext>
            </a:extLst>
          </p:cNvPr>
          <p:cNvSpPr>
            <a:spLocks noGrp="1"/>
          </p:cNvSpPr>
          <p:nvPr/>
        </p:nvSpPr>
        <p:spPr>
          <a:xfrm>
            <a:off x="1047750" y="457200"/>
            <a:ext cx="342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WHY NOW</a:t>
            </a:r>
          </a:p>
        </p:txBody>
      </p:sp>
      <p:sp>
        <p:nvSpPr>
          <p:cNvPr id="4" name="claim-title">
            <a:extLst>
              <a:ext uri="{FF2B5EF4-FFF2-40B4-BE49-F238E27FC236}">
                <a16:creationId xmlns:a16="http://schemas.microsoft.com/office/drawing/2014/main" id="{004E1C15-BEB7-4A29-A451-40706CC7256A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723900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9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Most dashboard tools stop before the business decision.</a:t>
            </a:r>
          </a:p>
        </p:txBody>
      </p:sp>
      <p:sp>
        <p:nvSpPr>
          <p:cNvPr id="5" name="support-note">
            <a:extLst>
              <a:ext uri="{FF2B5EF4-FFF2-40B4-BE49-F238E27FC236}">
                <a16:creationId xmlns:a16="http://schemas.microsoft.com/office/drawing/2014/main" id="{A941021B-922D-4821-8720-2732554C446F}"/>
              </a:ext>
            </a:extLst>
          </p:cNvPr>
          <p:cNvSpPr>
            <a:spLocks noGrp="1"/>
          </p:cNvSpPr>
          <p:nvPr/>
        </p:nvSpPr>
        <p:spPr>
          <a:xfrm>
            <a:off x="628650" y="1847850"/>
            <a:ext cx="61912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The gap is not visualization. The gap is validation, interpretation, and report-ready action that a leader can trust.</a:t>
            </a:r>
          </a:p>
        </p:txBody>
      </p:sp>
      <p:sp>
        <p:nvSpPr>
          <p:cNvPr id="6" name="stage-box">
            <a:extLst>
              <a:ext uri="{FF2B5EF4-FFF2-40B4-BE49-F238E27FC236}">
                <a16:creationId xmlns:a16="http://schemas.microsoft.com/office/drawing/2014/main" id="{4272FC33-0702-4D28-976B-86CEAC014C5E}"/>
              </a:ext>
            </a:extLst>
          </p:cNvPr>
          <p:cNvSpPr>
            <a:spLocks noGrp="1"/>
          </p:cNvSpPr>
          <p:nvPr/>
        </p:nvSpPr>
        <p:spPr>
          <a:xfrm>
            <a:off x="609600" y="2895600"/>
            <a:ext cx="2076450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C8"/>
            </a:solidFill>
            <a:prstDash val="solid"/>
          </a:ln>
        </p:spPr>
      </p:sp>
      <p:sp>
        <p:nvSpPr>
          <p:cNvPr id="7" name="stage-accent">
            <a:extLst>
              <a:ext uri="{FF2B5EF4-FFF2-40B4-BE49-F238E27FC236}">
                <a16:creationId xmlns:a16="http://schemas.microsoft.com/office/drawing/2014/main" id="{CBB83A7A-C31C-424E-9B1E-6907116F4B55}"/>
              </a:ext>
            </a:extLst>
          </p:cNvPr>
          <p:cNvSpPr>
            <a:spLocks noGrp="1"/>
          </p:cNvSpPr>
          <p:nvPr/>
        </p:nvSpPr>
        <p:spPr>
          <a:xfrm>
            <a:off x="609600" y="2895600"/>
            <a:ext cx="2076450" cy="66675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stage-label">
            <a:extLst>
              <a:ext uri="{FF2B5EF4-FFF2-40B4-BE49-F238E27FC236}">
                <a16:creationId xmlns:a16="http://schemas.microsoft.com/office/drawing/2014/main" id="{9240F174-40BD-4164-9266-6038E4B39E31}"/>
              </a:ext>
            </a:extLst>
          </p:cNvPr>
          <p:cNvSpPr>
            <a:spLocks noGrp="1"/>
          </p:cNvSpPr>
          <p:nvPr/>
        </p:nvSpPr>
        <p:spPr>
          <a:xfrm>
            <a:off x="781050" y="3105150"/>
            <a:ext cx="1733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Data arrives</a:t>
            </a:r>
          </a:p>
        </p:txBody>
      </p:sp>
      <p:sp>
        <p:nvSpPr>
          <p:cNvPr id="9" name="stage-sub">
            <a:extLst>
              <a:ext uri="{FF2B5EF4-FFF2-40B4-BE49-F238E27FC236}">
                <a16:creationId xmlns:a16="http://schemas.microsoft.com/office/drawing/2014/main" id="{E607EACE-D8EF-4576-A59F-9FC7E45083A0}"/>
              </a:ext>
            </a:extLst>
          </p:cNvPr>
          <p:cNvSpPr>
            <a:spLocks noGrp="1"/>
          </p:cNvSpPr>
          <p:nvPr/>
        </p:nvSpPr>
        <p:spPr>
          <a:xfrm>
            <a:off x="781050" y="3371850"/>
            <a:ext cx="17335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CSV files, exports, and disconnected operational data.</a:t>
            </a:r>
          </a:p>
        </p:txBody>
      </p:sp>
      <p:sp>
        <p:nvSpPr>
          <p:cNvPr id="10" name="stage-box">
            <a:extLst>
              <a:ext uri="{FF2B5EF4-FFF2-40B4-BE49-F238E27FC236}">
                <a16:creationId xmlns:a16="http://schemas.microsoft.com/office/drawing/2014/main" id="{5BABFC35-CADE-4962-8762-D8581C722478}"/>
              </a:ext>
            </a:extLst>
          </p:cNvPr>
          <p:cNvSpPr>
            <a:spLocks noGrp="1"/>
          </p:cNvSpPr>
          <p:nvPr/>
        </p:nvSpPr>
        <p:spPr>
          <a:xfrm>
            <a:off x="3048000" y="2895600"/>
            <a:ext cx="2076450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C8"/>
            </a:solidFill>
            <a:prstDash val="solid"/>
          </a:ln>
        </p:spPr>
      </p:sp>
      <p:sp>
        <p:nvSpPr>
          <p:cNvPr id="11" name="stage-accent">
            <a:extLst>
              <a:ext uri="{FF2B5EF4-FFF2-40B4-BE49-F238E27FC236}">
                <a16:creationId xmlns:a16="http://schemas.microsoft.com/office/drawing/2014/main" id="{E8E02851-EFE9-4F70-8B2C-B596C8EB6FA8}"/>
              </a:ext>
            </a:extLst>
          </p:cNvPr>
          <p:cNvSpPr>
            <a:spLocks noGrp="1"/>
          </p:cNvSpPr>
          <p:nvPr/>
        </p:nvSpPr>
        <p:spPr>
          <a:xfrm>
            <a:off x="3048000" y="2895600"/>
            <a:ext cx="2076450" cy="66675"/>
          </a:xfrm>
          <a:prstGeom prst="rect">
            <a:avLst/>
          </a:prstGeom>
          <a:solidFill>
            <a:srgbClr val="F59E0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stage-label">
            <a:extLst>
              <a:ext uri="{FF2B5EF4-FFF2-40B4-BE49-F238E27FC236}">
                <a16:creationId xmlns:a16="http://schemas.microsoft.com/office/drawing/2014/main" id="{DD37F863-ECCD-4024-8834-C605A1BD6326}"/>
              </a:ext>
            </a:extLst>
          </p:cNvPr>
          <p:cNvSpPr>
            <a:spLocks noGrp="1"/>
          </p:cNvSpPr>
          <p:nvPr/>
        </p:nvSpPr>
        <p:spPr>
          <a:xfrm>
            <a:off x="3219450" y="3105150"/>
            <a:ext cx="1733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Charts appear</a:t>
            </a:r>
          </a:p>
        </p:txBody>
      </p:sp>
      <p:sp>
        <p:nvSpPr>
          <p:cNvPr id="13" name="stage-sub">
            <a:extLst>
              <a:ext uri="{FF2B5EF4-FFF2-40B4-BE49-F238E27FC236}">
                <a16:creationId xmlns:a16="http://schemas.microsoft.com/office/drawing/2014/main" id="{806F1E0D-1831-472F-AA3A-7AB533114804}"/>
              </a:ext>
            </a:extLst>
          </p:cNvPr>
          <p:cNvSpPr>
            <a:spLocks noGrp="1"/>
          </p:cNvSpPr>
          <p:nvPr/>
        </p:nvSpPr>
        <p:spPr>
          <a:xfrm>
            <a:off x="3219450" y="3371850"/>
            <a:ext cx="17335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Default visuals show activity but often miss business meaning.</a:t>
            </a:r>
          </a:p>
        </p:txBody>
      </p:sp>
      <p:sp>
        <p:nvSpPr>
          <p:cNvPr id="14" name="stage-box">
            <a:extLst>
              <a:ext uri="{FF2B5EF4-FFF2-40B4-BE49-F238E27FC236}">
                <a16:creationId xmlns:a16="http://schemas.microsoft.com/office/drawing/2014/main" id="{8DE55A30-2AB2-4084-8049-090111505ED9}"/>
              </a:ext>
            </a:extLst>
          </p:cNvPr>
          <p:cNvSpPr>
            <a:spLocks noGrp="1"/>
          </p:cNvSpPr>
          <p:nvPr/>
        </p:nvSpPr>
        <p:spPr>
          <a:xfrm>
            <a:off x="5486400" y="2895600"/>
            <a:ext cx="2076450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C8"/>
            </a:solidFill>
            <a:prstDash val="solid"/>
          </a:ln>
        </p:spPr>
      </p:sp>
      <p:sp>
        <p:nvSpPr>
          <p:cNvPr id="15" name="stage-accent">
            <a:extLst>
              <a:ext uri="{FF2B5EF4-FFF2-40B4-BE49-F238E27FC236}">
                <a16:creationId xmlns:a16="http://schemas.microsoft.com/office/drawing/2014/main" id="{1119471D-49BE-48C2-9AB5-0F593B6EDBC7}"/>
              </a:ext>
            </a:extLst>
          </p:cNvPr>
          <p:cNvSpPr>
            <a:spLocks noGrp="1"/>
          </p:cNvSpPr>
          <p:nvPr/>
        </p:nvSpPr>
        <p:spPr>
          <a:xfrm>
            <a:off x="5486400" y="2895600"/>
            <a:ext cx="2076450" cy="66675"/>
          </a:xfrm>
          <a:prstGeom prst="rect">
            <a:avLst/>
          </a:prstGeom>
          <a:solidFill>
            <a:srgbClr val="EF444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stage-label">
            <a:extLst>
              <a:ext uri="{FF2B5EF4-FFF2-40B4-BE49-F238E27FC236}">
                <a16:creationId xmlns:a16="http://schemas.microsoft.com/office/drawing/2014/main" id="{EB0B8612-1157-4014-B6C7-135306ED5658}"/>
              </a:ext>
            </a:extLst>
          </p:cNvPr>
          <p:cNvSpPr>
            <a:spLocks noGrp="1"/>
          </p:cNvSpPr>
          <p:nvPr/>
        </p:nvSpPr>
        <p:spPr>
          <a:xfrm>
            <a:off x="5657850" y="3105150"/>
            <a:ext cx="1733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Analyst work begins</a:t>
            </a:r>
          </a:p>
        </p:txBody>
      </p:sp>
      <p:sp>
        <p:nvSpPr>
          <p:cNvPr id="17" name="stage-sub">
            <a:extLst>
              <a:ext uri="{FF2B5EF4-FFF2-40B4-BE49-F238E27FC236}">
                <a16:creationId xmlns:a16="http://schemas.microsoft.com/office/drawing/2014/main" id="{C0994A25-23A9-42C1-A46B-008F7A874889}"/>
              </a:ext>
            </a:extLst>
          </p:cNvPr>
          <p:cNvSpPr>
            <a:spLocks noGrp="1"/>
          </p:cNvSpPr>
          <p:nvPr/>
        </p:nvSpPr>
        <p:spPr>
          <a:xfrm>
            <a:off x="5657850" y="3371850"/>
            <a:ext cx="17335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Teams manually validate metrics, write explanations, and package slides.</a:t>
            </a:r>
          </a:p>
        </p:txBody>
      </p:sp>
      <p:sp>
        <p:nvSpPr>
          <p:cNvPr id="18" name="stage-box">
            <a:extLst>
              <a:ext uri="{FF2B5EF4-FFF2-40B4-BE49-F238E27FC236}">
                <a16:creationId xmlns:a16="http://schemas.microsoft.com/office/drawing/2014/main" id="{EA755687-4189-4F07-B8F6-C23372DC525F}"/>
              </a:ext>
            </a:extLst>
          </p:cNvPr>
          <p:cNvSpPr>
            <a:spLocks noGrp="1"/>
          </p:cNvSpPr>
          <p:nvPr/>
        </p:nvSpPr>
        <p:spPr>
          <a:xfrm>
            <a:off x="7924800" y="2895600"/>
            <a:ext cx="2076450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C8"/>
            </a:solidFill>
            <a:prstDash val="solid"/>
          </a:ln>
        </p:spPr>
      </p:sp>
      <p:sp>
        <p:nvSpPr>
          <p:cNvPr id="19" name="stage-accent">
            <a:extLst>
              <a:ext uri="{FF2B5EF4-FFF2-40B4-BE49-F238E27FC236}">
                <a16:creationId xmlns:a16="http://schemas.microsoft.com/office/drawing/2014/main" id="{294F4A25-2CFA-4ACD-914A-B6FCB41290C0}"/>
              </a:ext>
            </a:extLst>
          </p:cNvPr>
          <p:cNvSpPr>
            <a:spLocks noGrp="1"/>
          </p:cNvSpPr>
          <p:nvPr/>
        </p:nvSpPr>
        <p:spPr>
          <a:xfrm>
            <a:off x="7924800" y="2895600"/>
            <a:ext cx="2076450" cy="66675"/>
          </a:xfrm>
          <a:prstGeom prst="rect">
            <a:avLst/>
          </a:prstGeom>
          <a:solidFill>
            <a:srgbClr val="10B98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stage-label">
            <a:extLst>
              <a:ext uri="{FF2B5EF4-FFF2-40B4-BE49-F238E27FC236}">
                <a16:creationId xmlns:a16="http://schemas.microsoft.com/office/drawing/2014/main" id="{D1560521-A04B-452F-AAE5-B7AF7C2E5BDF}"/>
              </a:ext>
            </a:extLst>
          </p:cNvPr>
          <p:cNvSpPr>
            <a:spLocks noGrp="1"/>
          </p:cNvSpPr>
          <p:nvPr/>
        </p:nvSpPr>
        <p:spPr>
          <a:xfrm>
            <a:off x="8096250" y="3105150"/>
            <a:ext cx="1733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Decision delayed</a:t>
            </a:r>
          </a:p>
        </p:txBody>
      </p:sp>
      <p:sp>
        <p:nvSpPr>
          <p:cNvPr id="21" name="stage-sub">
            <a:extLst>
              <a:ext uri="{FF2B5EF4-FFF2-40B4-BE49-F238E27FC236}">
                <a16:creationId xmlns:a16="http://schemas.microsoft.com/office/drawing/2014/main" id="{DD649770-E988-4D7B-A3E1-84D4F22E6D27}"/>
              </a:ext>
            </a:extLst>
          </p:cNvPr>
          <p:cNvSpPr>
            <a:spLocks noGrp="1"/>
          </p:cNvSpPr>
          <p:nvPr/>
        </p:nvSpPr>
        <p:spPr>
          <a:xfrm>
            <a:off x="8096250" y="3371850"/>
            <a:ext cx="17335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Meetings need narrative, evidence, action, and confidence.</a:t>
            </a:r>
          </a:p>
        </p:txBody>
      </p:sp>
      <p:sp>
        <p:nvSpPr>
          <p:cNvPr id="22" name="opportunity-callout">
            <a:extLst>
              <a:ext uri="{FF2B5EF4-FFF2-40B4-BE49-F238E27FC236}">
                <a16:creationId xmlns:a16="http://schemas.microsoft.com/office/drawing/2014/main" id="{A02B2307-21B1-4E0A-A44F-2F249800F36C}"/>
              </a:ext>
            </a:extLst>
          </p:cNvPr>
          <p:cNvSpPr>
            <a:spLocks noGrp="1"/>
          </p:cNvSpPr>
          <p:nvPr/>
        </p:nvSpPr>
        <p:spPr>
          <a:xfrm>
            <a:off x="8439150" y="1524000"/>
            <a:ext cx="247650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Opportunity: compress analysis-to-meeting time into one guided product flow.</a:t>
            </a:r>
          </a:p>
        </p:txBody>
      </p:sp>
      <p:sp>
        <p:nvSpPr>
          <p:cNvPr id="23" name="footer-label">
            <a:extLst>
              <a:ext uri="{FF2B5EF4-FFF2-40B4-BE49-F238E27FC236}">
                <a16:creationId xmlns:a16="http://schemas.microsoft.com/office/drawing/2014/main" id="{89484640-7625-44CE-BFF9-19915DD59BA9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4000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AI Analytics SaaS MVP | Sales introduction</a:t>
            </a:r>
          </a:p>
        </p:txBody>
      </p:sp>
      <p:sp>
        <p:nvSpPr>
          <p:cNvPr id="24" name="footer-page">
            <a:extLst>
              <a:ext uri="{FF2B5EF4-FFF2-40B4-BE49-F238E27FC236}">
                <a16:creationId xmlns:a16="http://schemas.microsoft.com/office/drawing/2014/main" id="{5A0B0304-1733-4034-AD16-DA15A8D17033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4572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806658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ackground">
            <a:extLst>
              <a:ext uri="{FF2B5EF4-FFF2-40B4-BE49-F238E27FC236}">
                <a16:creationId xmlns:a16="http://schemas.microsoft.com/office/drawing/2014/main" id="{949F2D9A-BEB1-4B13-857C-B4F28F396F8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>
              <a:ext uri="{FF2B5EF4-FFF2-40B4-BE49-F238E27FC236}">
                <a16:creationId xmlns:a16="http://schemas.microsoft.com/office/drawing/2014/main" id="{AA6B853E-FC10-4EF3-9FD7-EFCCD3E233C9}"/>
              </a:ext>
            </a:extLst>
          </p:cNvPr>
          <p:cNvSpPr>
            <a:spLocks noGrp="1"/>
          </p:cNvSpPr>
          <p:nvPr/>
        </p:nvSpPr>
        <p:spPr>
          <a:xfrm>
            <a:off x="609600" y="533400"/>
            <a:ext cx="323850" cy="28575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>
              <a:ext uri="{FF2B5EF4-FFF2-40B4-BE49-F238E27FC236}">
                <a16:creationId xmlns:a16="http://schemas.microsoft.com/office/drawing/2014/main" id="{03E9D06E-FFDA-418C-A07F-38FA7652A78C}"/>
              </a:ext>
            </a:extLst>
          </p:cNvPr>
          <p:cNvSpPr>
            <a:spLocks noGrp="1"/>
          </p:cNvSpPr>
          <p:nvPr/>
        </p:nvSpPr>
        <p:spPr>
          <a:xfrm>
            <a:off x="1047750" y="457200"/>
            <a:ext cx="342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PLATFORM FLOW</a:t>
            </a:r>
          </a:p>
        </p:txBody>
      </p:sp>
      <p:sp>
        <p:nvSpPr>
          <p:cNvPr id="4" name="claim-title">
            <a:extLst>
              <a:ext uri="{FF2B5EF4-FFF2-40B4-BE49-F238E27FC236}">
                <a16:creationId xmlns:a16="http://schemas.microsoft.com/office/drawing/2014/main" id="{CF01E74B-40A1-4FD9-984C-A9D8E4FB0657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809625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9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The MVP already covers the full path from upload to board-ready output.</a:t>
            </a:r>
          </a:p>
        </p:txBody>
      </p:sp>
      <p:sp>
        <p:nvSpPr>
          <p:cNvPr id="5" name="stage-box">
            <a:extLst>
              <a:ext uri="{FF2B5EF4-FFF2-40B4-BE49-F238E27FC236}">
                <a16:creationId xmlns:a16="http://schemas.microsoft.com/office/drawing/2014/main" id="{3CDA2EE1-0166-4610-A806-FCCD885DF4A2}"/>
              </a:ext>
            </a:extLst>
          </p:cNvPr>
          <p:cNvSpPr>
            <a:spLocks noGrp="1"/>
          </p:cNvSpPr>
          <p:nvPr/>
        </p:nvSpPr>
        <p:spPr>
          <a:xfrm>
            <a:off x="552450" y="2857500"/>
            <a:ext cx="1885950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C8"/>
            </a:solidFill>
            <a:prstDash val="solid"/>
          </a:ln>
        </p:spPr>
      </p:sp>
      <p:sp>
        <p:nvSpPr>
          <p:cNvPr id="6" name="stage-accent">
            <a:extLst>
              <a:ext uri="{FF2B5EF4-FFF2-40B4-BE49-F238E27FC236}">
                <a16:creationId xmlns:a16="http://schemas.microsoft.com/office/drawing/2014/main" id="{D319F208-4A49-42CE-933D-012BA91B70C3}"/>
              </a:ext>
            </a:extLst>
          </p:cNvPr>
          <p:cNvSpPr>
            <a:spLocks noGrp="1"/>
          </p:cNvSpPr>
          <p:nvPr/>
        </p:nvSpPr>
        <p:spPr>
          <a:xfrm>
            <a:off x="552450" y="2857500"/>
            <a:ext cx="1885950" cy="66675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stage-label">
            <a:extLst>
              <a:ext uri="{FF2B5EF4-FFF2-40B4-BE49-F238E27FC236}">
                <a16:creationId xmlns:a16="http://schemas.microsoft.com/office/drawing/2014/main" id="{81611C00-4598-4C3D-8E14-2E3FC3F85EA4}"/>
              </a:ext>
            </a:extLst>
          </p:cNvPr>
          <p:cNvSpPr>
            <a:spLocks noGrp="1"/>
          </p:cNvSpPr>
          <p:nvPr/>
        </p:nvSpPr>
        <p:spPr>
          <a:xfrm>
            <a:off x="723900" y="3067050"/>
            <a:ext cx="15430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Dataset</a:t>
            </a:r>
          </a:p>
        </p:txBody>
      </p:sp>
      <p:sp>
        <p:nvSpPr>
          <p:cNvPr id="8" name="stage-sub">
            <a:extLst>
              <a:ext uri="{FF2B5EF4-FFF2-40B4-BE49-F238E27FC236}">
                <a16:creationId xmlns:a16="http://schemas.microsoft.com/office/drawing/2014/main" id="{6A5D6869-B0CC-415D-81B6-2737595FD5FF}"/>
              </a:ext>
            </a:extLst>
          </p:cNvPr>
          <p:cNvSpPr>
            <a:spLocks noGrp="1"/>
          </p:cNvSpPr>
          <p:nvPr/>
        </p:nvSpPr>
        <p:spPr>
          <a:xfrm>
            <a:off x="723900" y="3333750"/>
            <a:ext cx="15430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Upload, persist, validate, and track lifecycle.</a:t>
            </a:r>
          </a:p>
        </p:txBody>
      </p:sp>
      <p:sp>
        <p:nvSpPr>
          <p:cNvPr id="9" name="stage-box">
            <a:extLst>
              <a:ext uri="{FF2B5EF4-FFF2-40B4-BE49-F238E27FC236}">
                <a16:creationId xmlns:a16="http://schemas.microsoft.com/office/drawing/2014/main" id="{F2AAA45E-936A-4BDB-89F1-36DF8E553772}"/>
              </a:ext>
            </a:extLst>
          </p:cNvPr>
          <p:cNvSpPr>
            <a:spLocks noGrp="1"/>
          </p:cNvSpPr>
          <p:nvPr/>
        </p:nvSpPr>
        <p:spPr>
          <a:xfrm>
            <a:off x="2800350" y="2857500"/>
            <a:ext cx="1885950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C8"/>
            </a:solidFill>
            <a:prstDash val="solid"/>
          </a:ln>
        </p:spPr>
      </p:sp>
      <p:sp>
        <p:nvSpPr>
          <p:cNvPr id="10" name="stage-accent">
            <a:extLst>
              <a:ext uri="{FF2B5EF4-FFF2-40B4-BE49-F238E27FC236}">
                <a16:creationId xmlns:a16="http://schemas.microsoft.com/office/drawing/2014/main" id="{6B20037B-6F3C-421A-A314-EDB8C8490916}"/>
              </a:ext>
            </a:extLst>
          </p:cNvPr>
          <p:cNvSpPr>
            <a:spLocks noGrp="1"/>
          </p:cNvSpPr>
          <p:nvPr/>
        </p:nvSpPr>
        <p:spPr>
          <a:xfrm>
            <a:off x="2800350" y="2857500"/>
            <a:ext cx="1885950" cy="66675"/>
          </a:xfrm>
          <a:prstGeom prst="rect">
            <a:avLst/>
          </a:prstGeom>
          <a:solidFill>
            <a:srgbClr val="22D3E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stage-label">
            <a:extLst>
              <a:ext uri="{FF2B5EF4-FFF2-40B4-BE49-F238E27FC236}">
                <a16:creationId xmlns:a16="http://schemas.microsoft.com/office/drawing/2014/main" id="{A4346A43-BFDF-4FD0-B40D-FEAA3B4BEEC5}"/>
              </a:ext>
            </a:extLst>
          </p:cNvPr>
          <p:cNvSpPr>
            <a:spLocks noGrp="1"/>
          </p:cNvSpPr>
          <p:nvPr/>
        </p:nvSpPr>
        <p:spPr>
          <a:xfrm>
            <a:off x="2971800" y="3067050"/>
            <a:ext cx="15430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Profile</a:t>
            </a:r>
          </a:p>
        </p:txBody>
      </p:sp>
      <p:sp>
        <p:nvSpPr>
          <p:cNvPr id="12" name="stage-sub">
            <a:extLst>
              <a:ext uri="{FF2B5EF4-FFF2-40B4-BE49-F238E27FC236}">
                <a16:creationId xmlns:a16="http://schemas.microsoft.com/office/drawing/2014/main" id="{38B8FCDF-1C5B-4438-A399-D2851299AC3B}"/>
              </a:ext>
            </a:extLst>
          </p:cNvPr>
          <p:cNvSpPr>
            <a:spLocks noGrp="1"/>
          </p:cNvSpPr>
          <p:nvPr/>
        </p:nvSpPr>
        <p:spPr>
          <a:xfrm>
            <a:off x="2971800" y="3333750"/>
            <a:ext cx="15430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Detect types, missing values, duplicates, quality, and outliers.</a:t>
            </a:r>
          </a:p>
        </p:txBody>
      </p:sp>
      <p:sp>
        <p:nvSpPr>
          <p:cNvPr id="13" name="stage-box">
            <a:extLst>
              <a:ext uri="{FF2B5EF4-FFF2-40B4-BE49-F238E27FC236}">
                <a16:creationId xmlns:a16="http://schemas.microsoft.com/office/drawing/2014/main" id="{C3D7EBA5-BF1F-434E-8756-7B0F67EA7923}"/>
              </a:ext>
            </a:extLst>
          </p:cNvPr>
          <p:cNvSpPr>
            <a:spLocks noGrp="1"/>
          </p:cNvSpPr>
          <p:nvPr/>
        </p:nvSpPr>
        <p:spPr>
          <a:xfrm>
            <a:off x="5048250" y="2857500"/>
            <a:ext cx="1885950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C8"/>
            </a:solidFill>
            <a:prstDash val="solid"/>
          </a:ln>
        </p:spPr>
      </p:sp>
      <p:sp>
        <p:nvSpPr>
          <p:cNvPr id="14" name="stage-accent">
            <a:extLst>
              <a:ext uri="{FF2B5EF4-FFF2-40B4-BE49-F238E27FC236}">
                <a16:creationId xmlns:a16="http://schemas.microsoft.com/office/drawing/2014/main" id="{AAA92653-3A4B-4145-B010-5FD913CB8974}"/>
              </a:ext>
            </a:extLst>
          </p:cNvPr>
          <p:cNvSpPr>
            <a:spLocks noGrp="1"/>
          </p:cNvSpPr>
          <p:nvPr/>
        </p:nvSpPr>
        <p:spPr>
          <a:xfrm>
            <a:off x="5048250" y="2857500"/>
            <a:ext cx="1885950" cy="66675"/>
          </a:xfrm>
          <a:prstGeom prst="rect">
            <a:avLst/>
          </a:prstGeom>
          <a:solidFill>
            <a:srgbClr val="F59E0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stage-label">
            <a:extLst>
              <a:ext uri="{FF2B5EF4-FFF2-40B4-BE49-F238E27FC236}">
                <a16:creationId xmlns:a16="http://schemas.microsoft.com/office/drawing/2014/main" id="{ED1E35BF-0B41-45D6-9400-71737F9F8567}"/>
              </a:ext>
            </a:extLst>
          </p:cNvPr>
          <p:cNvSpPr>
            <a:spLocks noGrp="1"/>
          </p:cNvSpPr>
          <p:nvPr/>
        </p:nvSpPr>
        <p:spPr>
          <a:xfrm>
            <a:off x="5219700" y="3067050"/>
            <a:ext cx="15430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Analyze</a:t>
            </a:r>
          </a:p>
        </p:txBody>
      </p:sp>
      <p:sp>
        <p:nvSpPr>
          <p:cNvPr id="16" name="stage-sub">
            <a:extLst>
              <a:ext uri="{FF2B5EF4-FFF2-40B4-BE49-F238E27FC236}">
                <a16:creationId xmlns:a16="http://schemas.microsoft.com/office/drawing/2014/main" id="{E7792FE9-4AD1-45DC-9783-3317D8A33584}"/>
              </a:ext>
            </a:extLst>
          </p:cNvPr>
          <p:cNvSpPr>
            <a:spLocks noGrp="1"/>
          </p:cNvSpPr>
          <p:nvPr/>
        </p:nvSpPr>
        <p:spPr>
          <a:xfrm>
            <a:off x="5219700" y="3333750"/>
            <a:ext cx="15430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Generate KPIs, charts, domain signals, and grounded insights.</a:t>
            </a:r>
          </a:p>
        </p:txBody>
      </p:sp>
      <p:sp>
        <p:nvSpPr>
          <p:cNvPr id="17" name="stage-box">
            <a:extLst>
              <a:ext uri="{FF2B5EF4-FFF2-40B4-BE49-F238E27FC236}">
                <a16:creationId xmlns:a16="http://schemas.microsoft.com/office/drawing/2014/main" id="{0A2DE7DA-D475-468D-8EE9-AF0D812D8F3B}"/>
              </a:ext>
            </a:extLst>
          </p:cNvPr>
          <p:cNvSpPr>
            <a:spLocks noGrp="1"/>
          </p:cNvSpPr>
          <p:nvPr/>
        </p:nvSpPr>
        <p:spPr>
          <a:xfrm>
            <a:off x="7296150" y="2857500"/>
            <a:ext cx="1885950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C8"/>
            </a:solidFill>
            <a:prstDash val="solid"/>
          </a:ln>
        </p:spPr>
      </p:sp>
      <p:sp>
        <p:nvSpPr>
          <p:cNvPr id="18" name="stage-accent">
            <a:extLst>
              <a:ext uri="{FF2B5EF4-FFF2-40B4-BE49-F238E27FC236}">
                <a16:creationId xmlns:a16="http://schemas.microsoft.com/office/drawing/2014/main" id="{E71F0F91-63B4-42D4-BF72-F0FBF585F258}"/>
              </a:ext>
            </a:extLst>
          </p:cNvPr>
          <p:cNvSpPr>
            <a:spLocks noGrp="1"/>
          </p:cNvSpPr>
          <p:nvPr/>
        </p:nvSpPr>
        <p:spPr>
          <a:xfrm>
            <a:off x="7296150" y="2857500"/>
            <a:ext cx="1885950" cy="66675"/>
          </a:xfrm>
          <a:prstGeom prst="rect">
            <a:avLst/>
          </a:prstGeom>
          <a:solidFill>
            <a:srgbClr val="10B98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stage-label">
            <a:extLst>
              <a:ext uri="{FF2B5EF4-FFF2-40B4-BE49-F238E27FC236}">
                <a16:creationId xmlns:a16="http://schemas.microsoft.com/office/drawing/2014/main" id="{FCA4E790-D288-4AA8-A887-CAB374FEEF78}"/>
              </a:ext>
            </a:extLst>
          </p:cNvPr>
          <p:cNvSpPr>
            <a:spLocks noGrp="1"/>
          </p:cNvSpPr>
          <p:nvPr/>
        </p:nvSpPr>
        <p:spPr>
          <a:xfrm>
            <a:off x="7467600" y="3067050"/>
            <a:ext cx="15430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Ask</a:t>
            </a:r>
          </a:p>
        </p:txBody>
      </p:sp>
      <p:sp>
        <p:nvSpPr>
          <p:cNvPr id="20" name="stage-sub">
            <a:extLst>
              <a:ext uri="{FF2B5EF4-FFF2-40B4-BE49-F238E27FC236}">
                <a16:creationId xmlns:a16="http://schemas.microsoft.com/office/drawing/2014/main" id="{AE0CEA6B-5F58-47B0-A6A8-740E10E48D0D}"/>
              </a:ext>
            </a:extLst>
          </p:cNvPr>
          <p:cNvSpPr>
            <a:spLocks noGrp="1"/>
          </p:cNvSpPr>
          <p:nvPr/>
        </p:nvSpPr>
        <p:spPr>
          <a:xfrm>
            <a:off x="7467600" y="3333750"/>
            <a:ext cx="15430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Use SQL Lab, DAX Studio, and AI analyst workflows.</a:t>
            </a:r>
          </a:p>
        </p:txBody>
      </p:sp>
      <p:sp>
        <p:nvSpPr>
          <p:cNvPr id="21" name="stage-box">
            <a:extLst>
              <a:ext uri="{FF2B5EF4-FFF2-40B4-BE49-F238E27FC236}">
                <a16:creationId xmlns:a16="http://schemas.microsoft.com/office/drawing/2014/main" id="{86B7E329-BE2B-41F4-8919-C9F55F8B54C0}"/>
              </a:ext>
            </a:extLst>
          </p:cNvPr>
          <p:cNvSpPr>
            <a:spLocks noGrp="1"/>
          </p:cNvSpPr>
          <p:nvPr/>
        </p:nvSpPr>
        <p:spPr>
          <a:xfrm>
            <a:off x="9544050" y="2857500"/>
            <a:ext cx="1885950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C8"/>
            </a:solidFill>
            <a:prstDash val="solid"/>
          </a:ln>
        </p:spPr>
      </p:sp>
      <p:sp>
        <p:nvSpPr>
          <p:cNvPr id="22" name="stage-accent">
            <a:extLst>
              <a:ext uri="{FF2B5EF4-FFF2-40B4-BE49-F238E27FC236}">
                <a16:creationId xmlns:a16="http://schemas.microsoft.com/office/drawing/2014/main" id="{2ADBBBAB-92FD-4333-A67B-454CDCA92D04}"/>
              </a:ext>
            </a:extLst>
          </p:cNvPr>
          <p:cNvSpPr>
            <a:spLocks noGrp="1"/>
          </p:cNvSpPr>
          <p:nvPr/>
        </p:nvSpPr>
        <p:spPr>
          <a:xfrm>
            <a:off x="9544050" y="2857500"/>
            <a:ext cx="1885950" cy="66675"/>
          </a:xfrm>
          <a:prstGeom prst="rect">
            <a:avLst/>
          </a:prstGeom>
          <a:solidFill>
            <a:srgbClr val="EF444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stage-label">
            <a:extLst>
              <a:ext uri="{FF2B5EF4-FFF2-40B4-BE49-F238E27FC236}">
                <a16:creationId xmlns:a16="http://schemas.microsoft.com/office/drawing/2014/main" id="{4A7E2866-44CC-4316-92C8-8D1D041F3C0E}"/>
              </a:ext>
            </a:extLst>
          </p:cNvPr>
          <p:cNvSpPr>
            <a:spLocks noGrp="1"/>
          </p:cNvSpPr>
          <p:nvPr/>
        </p:nvSpPr>
        <p:spPr>
          <a:xfrm>
            <a:off x="9715500" y="3067050"/>
            <a:ext cx="15430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Export</a:t>
            </a:r>
          </a:p>
        </p:txBody>
      </p:sp>
      <p:sp>
        <p:nvSpPr>
          <p:cNvPr id="24" name="stage-sub">
            <a:extLst>
              <a:ext uri="{FF2B5EF4-FFF2-40B4-BE49-F238E27FC236}">
                <a16:creationId xmlns:a16="http://schemas.microsoft.com/office/drawing/2014/main" id="{460F7EA1-8918-42C1-AE32-899E594882BB}"/>
              </a:ext>
            </a:extLst>
          </p:cNvPr>
          <p:cNvSpPr>
            <a:spLocks noGrp="1"/>
          </p:cNvSpPr>
          <p:nvPr/>
        </p:nvSpPr>
        <p:spPr>
          <a:xfrm>
            <a:off x="9715500" y="3333750"/>
            <a:ext cx="15430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Download PDF, PPTX, XLSX, CSV, JSON, and PNG packages.</a:t>
            </a:r>
          </a:p>
        </p:txBody>
      </p:sp>
      <p:sp>
        <p:nvSpPr>
          <p:cNvPr id="25" name="support-note">
            <a:extLst>
              <a:ext uri="{FF2B5EF4-FFF2-40B4-BE49-F238E27FC236}">
                <a16:creationId xmlns:a16="http://schemas.microsoft.com/office/drawing/2014/main" id="{1F3B60DB-E710-4EBD-B056-70A37CE633E3}"/>
              </a:ext>
            </a:extLst>
          </p:cNvPr>
          <p:cNvSpPr>
            <a:spLocks noGrp="1"/>
          </p:cNvSpPr>
          <p:nvPr/>
        </p:nvSpPr>
        <p:spPr>
          <a:xfrm>
            <a:off x="628650" y="4819650"/>
            <a:ext cx="7810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The sales story is simple: a business user can bring data in, understand what matters, and leave with a meeting-ready report.</a:t>
            </a:r>
          </a:p>
        </p:txBody>
      </p:sp>
      <p:sp>
        <p:nvSpPr>
          <p:cNvPr id="26" name="footer-label">
            <a:extLst>
              <a:ext uri="{FF2B5EF4-FFF2-40B4-BE49-F238E27FC236}">
                <a16:creationId xmlns:a16="http://schemas.microsoft.com/office/drawing/2014/main" id="{E4AE29F3-9639-4433-8178-D5EBA9DD8E71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4000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AI Analytics SaaS MVP | Sales introduction</a:t>
            </a:r>
          </a:p>
        </p:txBody>
      </p:sp>
      <p:sp>
        <p:nvSpPr>
          <p:cNvPr id="27" name="footer-page">
            <a:extLst>
              <a:ext uri="{FF2B5EF4-FFF2-40B4-BE49-F238E27FC236}">
                <a16:creationId xmlns:a16="http://schemas.microsoft.com/office/drawing/2014/main" id="{4A8E93A7-8159-4581-81DF-0A3E59785C84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4572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9667212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background">
            <a:extLst>
              <a:ext uri="{FF2B5EF4-FFF2-40B4-BE49-F238E27FC236}">
                <a16:creationId xmlns:a16="http://schemas.microsoft.com/office/drawing/2014/main" id="{211293B2-8963-4183-85F5-23108B76716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>
              <a:ext uri="{FF2B5EF4-FFF2-40B4-BE49-F238E27FC236}">
                <a16:creationId xmlns:a16="http://schemas.microsoft.com/office/drawing/2014/main" id="{34A0867C-D1B3-4013-8A1A-12038603D8D6}"/>
              </a:ext>
            </a:extLst>
          </p:cNvPr>
          <p:cNvSpPr>
            <a:spLocks noGrp="1"/>
          </p:cNvSpPr>
          <p:nvPr/>
        </p:nvSpPr>
        <p:spPr>
          <a:xfrm>
            <a:off x="609600" y="533400"/>
            <a:ext cx="323850" cy="28575"/>
          </a:xfrm>
          <a:prstGeom prst="rect">
            <a:avLst/>
          </a:prstGeom>
          <a:solidFill>
            <a:srgbClr val="22D3E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>
              <a:ext uri="{FF2B5EF4-FFF2-40B4-BE49-F238E27FC236}">
                <a16:creationId xmlns:a16="http://schemas.microsoft.com/office/drawing/2014/main" id="{13508F3B-9041-4209-B4BF-25D03EFE6402}"/>
              </a:ext>
            </a:extLst>
          </p:cNvPr>
          <p:cNvSpPr>
            <a:spLocks noGrp="1"/>
          </p:cNvSpPr>
          <p:nvPr/>
        </p:nvSpPr>
        <p:spPr>
          <a:xfrm>
            <a:off x="1047750" y="457200"/>
            <a:ext cx="342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22D3EE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2D3EE"/>
                </a:solidFill>
                <a:latin typeface="Aptos"/>
                <a:ea typeface="Aptos"/>
                <a:cs typeface="Aptos"/>
              </a:rPr>
              <a:t>TRUST LAYER</a:t>
            </a:r>
          </a:p>
        </p:txBody>
      </p:sp>
      <p:sp>
        <p:nvSpPr>
          <p:cNvPr id="4" name="claim-title">
            <a:extLst>
              <a:ext uri="{FF2B5EF4-FFF2-40B4-BE49-F238E27FC236}">
                <a16:creationId xmlns:a16="http://schemas.microsoft.com/office/drawing/2014/main" id="{24ACB266-3C79-46A5-908E-018DF5E62977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762000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9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The intelligence layer validates business logic before it speaks.</a:t>
            </a:r>
          </a:p>
        </p:txBody>
      </p:sp>
      <p:sp>
        <p:nvSpPr>
          <p:cNvPr id="5" name="support-note">
            <a:extLst>
              <a:ext uri="{FF2B5EF4-FFF2-40B4-BE49-F238E27FC236}">
                <a16:creationId xmlns:a16="http://schemas.microsoft.com/office/drawing/2014/main" id="{0E7E6792-A341-4401-85F8-82EA031D5189}"/>
              </a:ext>
            </a:extLst>
          </p:cNvPr>
          <p:cNvSpPr>
            <a:spLocks noGrp="1"/>
          </p:cNvSpPr>
          <p:nvPr/>
        </p:nvSpPr>
        <p:spPr>
          <a:xfrm>
            <a:off x="628650" y="1885950"/>
            <a:ext cx="723900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D8DEE9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8DEE9"/>
                </a:solidFill>
                <a:latin typeface="Aptos"/>
                <a:ea typeface="Aptos"/>
                <a:cs typeface="Aptos"/>
              </a:rPr>
              <a:t>This is the core difference from generic AI: age is not summed, IDs are not treated as KPIs, and time intelligence is blocked when date logic is not valid.</a:t>
            </a:r>
          </a:p>
        </p:txBody>
      </p:sp>
      <p:sp>
        <p:nvSpPr>
          <p:cNvPr id="6" name="bar-label">
            <a:extLst>
              <a:ext uri="{FF2B5EF4-FFF2-40B4-BE49-F238E27FC236}">
                <a16:creationId xmlns:a16="http://schemas.microsoft.com/office/drawing/2014/main" id="{0EA0906C-5190-4913-874C-E1C50556DA29}"/>
              </a:ext>
            </a:extLst>
          </p:cNvPr>
          <p:cNvSpPr>
            <a:spLocks noGrp="1"/>
          </p:cNvSpPr>
          <p:nvPr/>
        </p:nvSpPr>
        <p:spPr>
          <a:xfrm>
            <a:off x="819150" y="3086100"/>
            <a:ext cx="20002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D8DEE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D8DEE9"/>
                </a:solidFill>
                <a:latin typeface="Aptos"/>
                <a:ea typeface="Aptos"/>
                <a:cs typeface="Aptos"/>
              </a:rPr>
              <a:t>Metric suitability</a:t>
            </a:r>
          </a:p>
        </p:txBody>
      </p:sp>
      <p:sp>
        <p:nvSpPr>
          <p:cNvPr id="7" name="bar-track">
            <a:extLst>
              <a:ext uri="{FF2B5EF4-FFF2-40B4-BE49-F238E27FC236}">
                <a16:creationId xmlns:a16="http://schemas.microsoft.com/office/drawing/2014/main" id="{369A6698-A005-412C-A1DE-86B2D389140D}"/>
              </a:ext>
            </a:extLst>
          </p:cNvPr>
          <p:cNvSpPr>
            <a:spLocks noGrp="1"/>
          </p:cNvSpPr>
          <p:nvPr/>
        </p:nvSpPr>
        <p:spPr>
          <a:xfrm>
            <a:off x="2914650" y="3133725"/>
            <a:ext cx="5810250" cy="95250"/>
          </a:xfrm>
          <a:prstGeom prst="rect">
            <a:avLst/>
          </a:prstGeom>
          <a:solidFill>
            <a:srgbClr val="26324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bar-fill">
            <a:extLst>
              <a:ext uri="{FF2B5EF4-FFF2-40B4-BE49-F238E27FC236}">
                <a16:creationId xmlns:a16="http://schemas.microsoft.com/office/drawing/2014/main" id="{51876654-ECDA-460A-B6AE-66486655D4F7}"/>
              </a:ext>
            </a:extLst>
          </p:cNvPr>
          <p:cNvSpPr>
            <a:spLocks noGrp="1"/>
          </p:cNvSpPr>
          <p:nvPr/>
        </p:nvSpPr>
        <p:spPr>
          <a:xfrm>
            <a:off x="2914650" y="3133725"/>
            <a:ext cx="5519738" cy="95250"/>
          </a:xfrm>
          <a:prstGeom prst="rect">
            <a:avLst/>
          </a:prstGeom>
          <a:solidFill>
            <a:srgbClr val="22D3E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bar-label">
            <a:extLst>
              <a:ext uri="{FF2B5EF4-FFF2-40B4-BE49-F238E27FC236}">
                <a16:creationId xmlns:a16="http://schemas.microsoft.com/office/drawing/2014/main" id="{A6038BEF-7D95-4CDB-A10E-93146489264F}"/>
              </a:ext>
            </a:extLst>
          </p:cNvPr>
          <p:cNvSpPr>
            <a:spLocks noGrp="1"/>
          </p:cNvSpPr>
          <p:nvPr/>
        </p:nvSpPr>
        <p:spPr>
          <a:xfrm>
            <a:off x="819150" y="3562350"/>
            <a:ext cx="20002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D8DEE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D8DEE9"/>
                </a:solidFill>
                <a:latin typeface="Aptos"/>
                <a:ea typeface="Aptos"/>
                <a:cs typeface="Aptos"/>
              </a:rPr>
              <a:t>Field type validation</a:t>
            </a:r>
          </a:p>
        </p:txBody>
      </p:sp>
      <p:sp>
        <p:nvSpPr>
          <p:cNvPr id="10" name="bar-track">
            <a:extLst>
              <a:ext uri="{FF2B5EF4-FFF2-40B4-BE49-F238E27FC236}">
                <a16:creationId xmlns:a16="http://schemas.microsoft.com/office/drawing/2014/main" id="{F399BC70-18DE-47FA-BD4D-2750A9E5806C}"/>
              </a:ext>
            </a:extLst>
          </p:cNvPr>
          <p:cNvSpPr>
            <a:spLocks noGrp="1"/>
          </p:cNvSpPr>
          <p:nvPr/>
        </p:nvSpPr>
        <p:spPr>
          <a:xfrm>
            <a:off x="2914650" y="3609975"/>
            <a:ext cx="5810250" cy="95250"/>
          </a:xfrm>
          <a:prstGeom prst="rect">
            <a:avLst/>
          </a:prstGeom>
          <a:solidFill>
            <a:srgbClr val="26324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bar-fill">
            <a:extLst>
              <a:ext uri="{FF2B5EF4-FFF2-40B4-BE49-F238E27FC236}">
                <a16:creationId xmlns:a16="http://schemas.microsoft.com/office/drawing/2014/main" id="{AC276628-9AC1-45ED-84EA-F9AAC9DC425F}"/>
              </a:ext>
            </a:extLst>
          </p:cNvPr>
          <p:cNvSpPr>
            <a:spLocks noGrp="1"/>
          </p:cNvSpPr>
          <p:nvPr/>
        </p:nvSpPr>
        <p:spPr>
          <a:xfrm>
            <a:off x="2914650" y="3609975"/>
            <a:ext cx="5229225" cy="95250"/>
          </a:xfrm>
          <a:prstGeom prst="rect">
            <a:avLst/>
          </a:prstGeom>
          <a:solidFill>
            <a:srgbClr val="10B98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bar-label">
            <a:extLst>
              <a:ext uri="{FF2B5EF4-FFF2-40B4-BE49-F238E27FC236}">
                <a16:creationId xmlns:a16="http://schemas.microsoft.com/office/drawing/2014/main" id="{92E4A0DE-7A25-4272-AC04-EC248D9D9B51}"/>
              </a:ext>
            </a:extLst>
          </p:cNvPr>
          <p:cNvSpPr>
            <a:spLocks noGrp="1"/>
          </p:cNvSpPr>
          <p:nvPr/>
        </p:nvSpPr>
        <p:spPr>
          <a:xfrm>
            <a:off x="819150" y="4038600"/>
            <a:ext cx="20002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D8DEE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D8DEE9"/>
                </a:solidFill>
                <a:latin typeface="Aptos"/>
                <a:ea typeface="Aptos"/>
                <a:cs typeface="Aptos"/>
              </a:rPr>
              <a:t>Evidence-based wording</a:t>
            </a:r>
          </a:p>
        </p:txBody>
      </p:sp>
      <p:sp>
        <p:nvSpPr>
          <p:cNvPr id="13" name="bar-track">
            <a:extLst>
              <a:ext uri="{FF2B5EF4-FFF2-40B4-BE49-F238E27FC236}">
                <a16:creationId xmlns:a16="http://schemas.microsoft.com/office/drawing/2014/main" id="{2F26E9FA-096B-42E3-B101-0337822F779B}"/>
              </a:ext>
            </a:extLst>
          </p:cNvPr>
          <p:cNvSpPr>
            <a:spLocks noGrp="1"/>
          </p:cNvSpPr>
          <p:nvPr/>
        </p:nvSpPr>
        <p:spPr>
          <a:xfrm>
            <a:off x="2914650" y="4086225"/>
            <a:ext cx="5810250" cy="95250"/>
          </a:xfrm>
          <a:prstGeom prst="rect">
            <a:avLst/>
          </a:prstGeom>
          <a:solidFill>
            <a:srgbClr val="26324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bar-fill">
            <a:extLst>
              <a:ext uri="{FF2B5EF4-FFF2-40B4-BE49-F238E27FC236}">
                <a16:creationId xmlns:a16="http://schemas.microsoft.com/office/drawing/2014/main" id="{055D910B-FFAA-4998-9CD0-A7BF0E298743}"/>
              </a:ext>
            </a:extLst>
          </p:cNvPr>
          <p:cNvSpPr>
            <a:spLocks noGrp="1"/>
          </p:cNvSpPr>
          <p:nvPr/>
        </p:nvSpPr>
        <p:spPr>
          <a:xfrm>
            <a:off x="2914650" y="4086225"/>
            <a:ext cx="4996815" cy="95250"/>
          </a:xfrm>
          <a:prstGeom prst="rect">
            <a:avLst/>
          </a:prstGeom>
          <a:solidFill>
            <a:srgbClr val="F59E0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bar-label">
            <a:extLst>
              <a:ext uri="{FF2B5EF4-FFF2-40B4-BE49-F238E27FC236}">
                <a16:creationId xmlns:a16="http://schemas.microsoft.com/office/drawing/2014/main" id="{1B888631-7022-4EC6-8635-CF2018E5B8A4}"/>
              </a:ext>
            </a:extLst>
          </p:cNvPr>
          <p:cNvSpPr>
            <a:spLocks noGrp="1"/>
          </p:cNvSpPr>
          <p:nvPr/>
        </p:nvSpPr>
        <p:spPr>
          <a:xfrm>
            <a:off x="819150" y="4514850"/>
            <a:ext cx="20002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D8DEE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D8DEE9"/>
                </a:solidFill>
                <a:latin typeface="Aptos"/>
                <a:ea typeface="Aptos"/>
                <a:cs typeface="Aptos"/>
              </a:rPr>
              <a:t>Export-ready narrative</a:t>
            </a:r>
          </a:p>
        </p:txBody>
      </p:sp>
      <p:sp>
        <p:nvSpPr>
          <p:cNvPr id="16" name="bar-track">
            <a:extLst>
              <a:ext uri="{FF2B5EF4-FFF2-40B4-BE49-F238E27FC236}">
                <a16:creationId xmlns:a16="http://schemas.microsoft.com/office/drawing/2014/main" id="{E57BB247-74EC-44A4-BEB7-DF63C94D7DD4}"/>
              </a:ext>
            </a:extLst>
          </p:cNvPr>
          <p:cNvSpPr>
            <a:spLocks noGrp="1"/>
          </p:cNvSpPr>
          <p:nvPr/>
        </p:nvSpPr>
        <p:spPr>
          <a:xfrm>
            <a:off x="2914650" y="4562475"/>
            <a:ext cx="5810250" cy="95250"/>
          </a:xfrm>
          <a:prstGeom prst="rect">
            <a:avLst/>
          </a:prstGeom>
          <a:solidFill>
            <a:srgbClr val="26324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bar-fill">
            <a:extLst>
              <a:ext uri="{FF2B5EF4-FFF2-40B4-BE49-F238E27FC236}">
                <a16:creationId xmlns:a16="http://schemas.microsoft.com/office/drawing/2014/main" id="{32D74A4F-ABEA-4250-8CAB-CCD8D9D9C08F}"/>
              </a:ext>
            </a:extLst>
          </p:cNvPr>
          <p:cNvSpPr>
            <a:spLocks noGrp="1"/>
          </p:cNvSpPr>
          <p:nvPr/>
        </p:nvSpPr>
        <p:spPr>
          <a:xfrm>
            <a:off x="2914650" y="4562475"/>
            <a:ext cx="4648200" cy="95250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evidence-box">
            <a:extLst>
              <a:ext uri="{FF2B5EF4-FFF2-40B4-BE49-F238E27FC236}">
                <a16:creationId xmlns:a16="http://schemas.microsoft.com/office/drawing/2014/main" id="{CEB25E9F-65D1-4D35-8AEC-339EC3A31056}"/>
              </a:ext>
            </a:extLst>
          </p:cNvPr>
          <p:cNvSpPr>
            <a:spLocks noGrp="1"/>
          </p:cNvSpPr>
          <p:nvPr/>
        </p:nvSpPr>
        <p:spPr>
          <a:xfrm>
            <a:off x="7905750" y="2705100"/>
            <a:ext cx="2876550" cy="1809750"/>
          </a:xfrm>
          <a:prstGeom prst="rect">
            <a:avLst/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9" name="guardrail-title">
            <a:extLst>
              <a:ext uri="{FF2B5EF4-FFF2-40B4-BE49-F238E27FC236}">
                <a16:creationId xmlns:a16="http://schemas.microsoft.com/office/drawing/2014/main" id="{6BDEBF02-4371-4C81-8FEF-BDEB89D9DCA5}"/>
              </a:ext>
            </a:extLst>
          </p:cNvPr>
          <p:cNvSpPr>
            <a:spLocks noGrp="1"/>
          </p:cNvSpPr>
          <p:nvPr/>
        </p:nvSpPr>
        <p:spPr>
          <a:xfrm>
            <a:off x="8172450" y="2971800"/>
            <a:ext cx="2381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Guardrail example</a:t>
            </a:r>
          </a:p>
        </p:txBody>
      </p:sp>
      <p:sp>
        <p:nvSpPr>
          <p:cNvPr id="20" name="guardrail-copy">
            <a:extLst>
              <a:ext uri="{FF2B5EF4-FFF2-40B4-BE49-F238E27FC236}">
                <a16:creationId xmlns:a16="http://schemas.microsoft.com/office/drawing/2014/main" id="{91EAFC12-B402-4482-AA04-9D4C72AE883C}"/>
              </a:ext>
            </a:extLst>
          </p:cNvPr>
          <p:cNvSpPr>
            <a:spLocks noGrp="1"/>
          </p:cNvSpPr>
          <p:nvPr/>
        </p:nvSpPr>
        <p:spPr>
          <a:xfrm>
            <a:off x="8172450" y="3409950"/>
            <a:ext cx="2324100" cy="742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D8DEE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D8DEE9"/>
                </a:solidFill>
                <a:latin typeface="Aptos"/>
                <a:ea typeface="Aptos"/>
                <a:cs typeface="Aptos"/>
              </a:rPr>
              <a:t>Instead of: Total age by gender.</a:t>
            </a:r>
          </a:p>
          <a:p>
            <a:pPr algn="l">
              <a:defRPr sz="1275" b="0">
                <a:solidFill>
                  <a:srgbClr val="D8DEE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D8DEE9"/>
                </a:solidFill>
                <a:latin typeface="Aptos"/>
                <a:ea typeface="Aptos"/>
                <a:cs typeface="Aptos"/>
              </a:rPr>
              <a:t>Use: Average age or age distribution by gender.</a:t>
            </a:r>
          </a:p>
        </p:txBody>
      </p:sp>
      <p:sp>
        <p:nvSpPr>
          <p:cNvPr id="21" name="footer-label">
            <a:extLst>
              <a:ext uri="{FF2B5EF4-FFF2-40B4-BE49-F238E27FC236}">
                <a16:creationId xmlns:a16="http://schemas.microsoft.com/office/drawing/2014/main" id="{2589B699-226B-45DA-B280-82DAB824989E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4000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A7B0C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A7B0C0"/>
                </a:solidFill>
                <a:latin typeface="Aptos"/>
                <a:ea typeface="Aptos"/>
                <a:cs typeface="Aptos"/>
              </a:rPr>
              <a:t>AI Analytics SaaS MVP | Sales introduction</a:t>
            </a:r>
          </a:p>
        </p:txBody>
      </p:sp>
      <p:sp>
        <p:nvSpPr>
          <p:cNvPr id="22" name="footer-page">
            <a:extLst>
              <a:ext uri="{FF2B5EF4-FFF2-40B4-BE49-F238E27FC236}">
                <a16:creationId xmlns:a16="http://schemas.microsoft.com/office/drawing/2014/main" id="{694804D9-3CBD-42EB-9C06-EF3C2D0F0D1A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4572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A7B0C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A7B0C0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0514255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background">
            <a:extLst>
              <a:ext uri="{FF2B5EF4-FFF2-40B4-BE49-F238E27FC236}">
                <a16:creationId xmlns:a16="http://schemas.microsoft.com/office/drawing/2014/main" id="{E7C0E598-0338-460E-9C43-4D5CD560B99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>
              <a:ext uri="{FF2B5EF4-FFF2-40B4-BE49-F238E27FC236}">
                <a16:creationId xmlns:a16="http://schemas.microsoft.com/office/drawing/2014/main" id="{900C7EB6-BD8B-472D-AD58-AB9BD5E69341}"/>
              </a:ext>
            </a:extLst>
          </p:cNvPr>
          <p:cNvSpPr>
            <a:spLocks noGrp="1"/>
          </p:cNvSpPr>
          <p:nvPr/>
        </p:nvSpPr>
        <p:spPr>
          <a:xfrm>
            <a:off x="609600" y="533400"/>
            <a:ext cx="323850" cy="28575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>
              <a:ext uri="{FF2B5EF4-FFF2-40B4-BE49-F238E27FC236}">
                <a16:creationId xmlns:a16="http://schemas.microsoft.com/office/drawing/2014/main" id="{22D48DE1-2B22-45B9-A66D-4BD6ED276D8D}"/>
              </a:ext>
            </a:extLst>
          </p:cNvPr>
          <p:cNvSpPr>
            <a:spLocks noGrp="1"/>
          </p:cNvSpPr>
          <p:nvPr/>
        </p:nvSpPr>
        <p:spPr>
          <a:xfrm>
            <a:off x="1047750" y="457200"/>
            <a:ext cx="342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DASHBOARD EXPERIENCE</a:t>
            </a:r>
          </a:p>
        </p:txBody>
      </p:sp>
      <p:sp>
        <p:nvSpPr>
          <p:cNvPr id="4" name="claim-title">
            <a:extLst>
              <a:ext uri="{FF2B5EF4-FFF2-40B4-BE49-F238E27FC236}">
                <a16:creationId xmlns:a16="http://schemas.microsoft.com/office/drawing/2014/main" id="{9D14D341-66C2-42BD-92EB-56EE3A189536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781050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9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The dashboard is designed for executives, not just developers.</a:t>
            </a:r>
          </a:p>
        </p:txBody>
      </p:sp>
      <p:sp>
        <p:nvSpPr>
          <p:cNvPr id="5" name="dashboard-frame">
            <a:extLst>
              <a:ext uri="{FF2B5EF4-FFF2-40B4-BE49-F238E27FC236}">
                <a16:creationId xmlns:a16="http://schemas.microsoft.com/office/drawing/2014/main" id="{89554A7F-E53E-4F52-A6B4-6376F4EFF5B2}"/>
              </a:ext>
            </a:extLst>
          </p:cNvPr>
          <p:cNvSpPr>
            <a:spLocks noGrp="1"/>
          </p:cNvSpPr>
          <p:nvPr/>
        </p:nvSpPr>
        <p:spPr>
          <a:xfrm>
            <a:off x="666750" y="2400300"/>
            <a:ext cx="6667500" cy="27622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C8"/>
            </a:solidFill>
            <a:prstDash val="solid"/>
          </a:ln>
        </p:spPr>
      </p:sp>
      <p:sp>
        <p:nvSpPr>
          <p:cNvPr id="6" name="dashboard-label">
            <a:extLst>
              <a:ext uri="{FF2B5EF4-FFF2-40B4-BE49-F238E27FC236}">
                <a16:creationId xmlns:a16="http://schemas.microsoft.com/office/drawing/2014/main" id="{4D7603E9-0D92-453F-9259-41F7E2A672D8}"/>
              </a:ext>
            </a:extLst>
          </p:cNvPr>
          <p:cNvSpPr>
            <a:spLocks noGrp="1"/>
          </p:cNvSpPr>
          <p:nvPr/>
        </p:nvSpPr>
        <p:spPr>
          <a:xfrm>
            <a:off x="914400" y="2628900"/>
            <a:ext cx="2381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Executive Dashboard</a:t>
            </a:r>
          </a:p>
        </p:txBody>
      </p:sp>
      <p:sp>
        <p:nvSpPr>
          <p:cNvPr id="7" name="metric-container">
            <a:extLst>
              <a:ext uri="{FF2B5EF4-FFF2-40B4-BE49-F238E27FC236}">
                <a16:creationId xmlns:a16="http://schemas.microsoft.com/office/drawing/2014/main" id="{CC794465-FD8A-4D12-8456-22AFEC257FB3}"/>
              </a:ext>
            </a:extLst>
          </p:cNvPr>
          <p:cNvSpPr>
            <a:spLocks noGrp="1"/>
          </p:cNvSpPr>
          <p:nvPr/>
        </p:nvSpPr>
        <p:spPr>
          <a:xfrm>
            <a:off x="914400" y="3105150"/>
            <a:ext cx="1752600" cy="12382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C8"/>
            </a:solidFill>
            <a:prstDash val="solid"/>
          </a:ln>
        </p:spPr>
      </p:sp>
      <p:sp>
        <p:nvSpPr>
          <p:cNvPr id="8" name="metric-accent">
            <a:extLst>
              <a:ext uri="{FF2B5EF4-FFF2-40B4-BE49-F238E27FC236}">
                <a16:creationId xmlns:a16="http://schemas.microsoft.com/office/drawing/2014/main" id="{046B6618-E0F8-4895-9942-6B0C6C279DBB}"/>
              </a:ext>
            </a:extLst>
          </p:cNvPr>
          <p:cNvSpPr>
            <a:spLocks noGrp="1"/>
          </p:cNvSpPr>
          <p:nvPr/>
        </p:nvSpPr>
        <p:spPr>
          <a:xfrm>
            <a:off x="914400" y="3105150"/>
            <a:ext cx="47625" cy="1238250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metric-value">
            <a:extLst>
              <a:ext uri="{FF2B5EF4-FFF2-40B4-BE49-F238E27FC236}">
                <a16:creationId xmlns:a16="http://schemas.microsoft.com/office/drawing/2014/main" id="{76BC329D-BD9C-4BCD-9541-E2B506097977}"/>
              </a:ext>
            </a:extLst>
          </p:cNvPr>
          <p:cNvSpPr>
            <a:spLocks noGrp="1"/>
          </p:cNvSpPr>
          <p:nvPr/>
        </p:nvSpPr>
        <p:spPr>
          <a:xfrm>
            <a:off x="1123950" y="3257550"/>
            <a:ext cx="14097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0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KPI</a:t>
            </a:r>
          </a:p>
        </p:txBody>
      </p:sp>
      <p:sp>
        <p:nvSpPr>
          <p:cNvPr id="10" name="metric-label">
            <a:extLst>
              <a:ext uri="{FF2B5EF4-FFF2-40B4-BE49-F238E27FC236}">
                <a16:creationId xmlns:a16="http://schemas.microsoft.com/office/drawing/2014/main" id="{49FA38FB-65FE-4CEF-A60D-1C2B7780641E}"/>
              </a:ext>
            </a:extLst>
          </p:cNvPr>
          <p:cNvSpPr>
            <a:spLocks noGrp="1"/>
          </p:cNvSpPr>
          <p:nvPr/>
        </p:nvSpPr>
        <p:spPr>
          <a:xfrm>
            <a:off x="1123950" y="3590925"/>
            <a:ext cx="14097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business cards</a:t>
            </a:r>
          </a:p>
        </p:txBody>
      </p:sp>
      <p:sp>
        <p:nvSpPr>
          <p:cNvPr id="11" name="metric-context">
            <a:extLst>
              <a:ext uri="{FF2B5EF4-FFF2-40B4-BE49-F238E27FC236}">
                <a16:creationId xmlns:a16="http://schemas.microsoft.com/office/drawing/2014/main" id="{9BA4A6A3-B2B0-4FF1-ADC3-ECA6889DD6EC}"/>
              </a:ext>
            </a:extLst>
          </p:cNvPr>
          <p:cNvSpPr>
            <a:spLocks noGrp="1"/>
          </p:cNvSpPr>
          <p:nvPr/>
        </p:nvSpPr>
        <p:spPr>
          <a:xfrm>
            <a:off x="1123950" y="3829050"/>
            <a:ext cx="14097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Value, delta, context, confidence.</a:t>
            </a:r>
          </a:p>
        </p:txBody>
      </p:sp>
      <p:sp>
        <p:nvSpPr>
          <p:cNvPr id="12" name="metric-container">
            <a:extLst>
              <a:ext uri="{FF2B5EF4-FFF2-40B4-BE49-F238E27FC236}">
                <a16:creationId xmlns:a16="http://schemas.microsoft.com/office/drawing/2014/main" id="{687F4357-4BF0-4E9E-A0E5-EFFDDA948468}"/>
              </a:ext>
            </a:extLst>
          </p:cNvPr>
          <p:cNvSpPr>
            <a:spLocks noGrp="1"/>
          </p:cNvSpPr>
          <p:nvPr/>
        </p:nvSpPr>
        <p:spPr>
          <a:xfrm>
            <a:off x="2895600" y="3105150"/>
            <a:ext cx="1752600" cy="12382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C8"/>
            </a:solidFill>
            <a:prstDash val="solid"/>
          </a:ln>
        </p:spPr>
      </p:sp>
      <p:sp>
        <p:nvSpPr>
          <p:cNvPr id="13" name="metric-accent">
            <a:extLst>
              <a:ext uri="{FF2B5EF4-FFF2-40B4-BE49-F238E27FC236}">
                <a16:creationId xmlns:a16="http://schemas.microsoft.com/office/drawing/2014/main" id="{0C5FCE01-884A-4E56-8238-8E64C6A705FB}"/>
              </a:ext>
            </a:extLst>
          </p:cNvPr>
          <p:cNvSpPr>
            <a:spLocks noGrp="1"/>
          </p:cNvSpPr>
          <p:nvPr/>
        </p:nvSpPr>
        <p:spPr>
          <a:xfrm>
            <a:off x="2895600" y="3105150"/>
            <a:ext cx="47625" cy="1238250"/>
          </a:xfrm>
          <a:prstGeom prst="rect">
            <a:avLst/>
          </a:prstGeom>
          <a:solidFill>
            <a:srgbClr val="10B98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metric-value">
            <a:extLst>
              <a:ext uri="{FF2B5EF4-FFF2-40B4-BE49-F238E27FC236}">
                <a16:creationId xmlns:a16="http://schemas.microsoft.com/office/drawing/2014/main" id="{38A21840-FEB9-499D-8CFB-8B7A0CC775E5}"/>
              </a:ext>
            </a:extLst>
          </p:cNvPr>
          <p:cNvSpPr>
            <a:spLocks noGrp="1"/>
          </p:cNvSpPr>
          <p:nvPr/>
        </p:nvSpPr>
        <p:spPr>
          <a:xfrm>
            <a:off x="3105150" y="3257550"/>
            <a:ext cx="14097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0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Charts</a:t>
            </a:r>
          </a:p>
        </p:txBody>
      </p:sp>
      <p:sp>
        <p:nvSpPr>
          <p:cNvPr id="15" name="metric-label">
            <a:extLst>
              <a:ext uri="{FF2B5EF4-FFF2-40B4-BE49-F238E27FC236}">
                <a16:creationId xmlns:a16="http://schemas.microsoft.com/office/drawing/2014/main" id="{7DF13D14-7D9A-4C4C-B382-ECFB06ED311C}"/>
              </a:ext>
            </a:extLst>
          </p:cNvPr>
          <p:cNvSpPr>
            <a:spLocks noGrp="1"/>
          </p:cNvSpPr>
          <p:nvPr/>
        </p:nvSpPr>
        <p:spPr>
          <a:xfrm>
            <a:off x="3105150" y="3590925"/>
            <a:ext cx="14097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0B98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B981"/>
                </a:solidFill>
                <a:latin typeface="Aptos"/>
                <a:ea typeface="Aptos"/>
                <a:cs typeface="Aptos"/>
              </a:rPr>
              <a:t>Plotly visuals</a:t>
            </a:r>
          </a:p>
        </p:txBody>
      </p:sp>
      <p:sp>
        <p:nvSpPr>
          <p:cNvPr id="16" name="metric-context">
            <a:extLst>
              <a:ext uri="{FF2B5EF4-FFF2-40B4-BE49-F238E27FC236}">
                <a16:creationId xmlns:a16="http://schemas.microsoft.com/office/drawing/2014/main" id="{1A5F3E92-ECB3-4EAC-995B-FF0C9DC5060C}"/>
              </a:ext>
            </a:extLst>
          </p:cNvPr>
          <p:cNvSpPr>
            <a:spLocks noGrp="1"/>
          </p:cNvSpPr>
          <p:nvPr/>
        </p:nvSpPr>
        <p:spPr>
          <a:xfrm>
            <a:off x="3105150" y="3829050"/>
            <a:ext cx="14097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Clean titles, labels, subtitles.</a:t>
            </a:r>
          </a:p>
        </p:txBody>
      </p:sp>
      <p:sp>
        <p:nvSpPr>
          <p:cNvPr id="17" name="metric-container">
            <a:extLst>
              <a:ext uri="{FF2B5EF4-FFF2-40B4-BE49-F238E27FC236}">
                <a16:creationId xmlns:a16="http://schemas.microsoft.com/office/drawing/2014/main" id="{901F047F-4017-4C69-AF25-90C5BC112CE3}"/>
              </a:ext>
            </a:extLst>
          </p:cNvPr>
          <p:cNvSpPr>
            <a:spLocks noGrp="1"/>
          </p:cNvSpPr>
          <p:nvPr/>
        </p:nvSpPr>
        <p:spPr>
          <a:xfrm>
            <a:off x="4876800" y="3105150"/>
            <a:ext cx="1752600" cy="12382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C8"/>
            </a:solidFill>
            <a:prstDash val="solid"/>
          </a:ln>
        </p:spPr>
      </p:sp>
      <p:sp>
        <p:nvSpPr>
          <p:cNvPr id="18" name="metric-accent">
            <a:extLst>
              <a:ext uri="{FF2B5EF4-FFF2-40B4-BE49-F238E27FC236}">
                <a16:creationId xmlns:a16="http://schemas.microsoft.com/office/drawing/2014/main" id="{28B45B08-8A2A-4830-AED6-A75169EC4D2E}"/>
              </a:ext>
            </a:extLst>
          </p:cNvPr>
          <p:cNvSpPr>
            <a:spLocks noGrp="1"/>
          </p:cNvSpPr>
          <p:nvPr/>
        </p:nvSpPr>
        <p:spPr>
          <a:xfrm>
            <a:off x="4876800" y="3105150"/>
            <a:ext cx="47625" cy="1238250"/>
          </a:xfrm>
          <a:prstGeom prst="rect">
            <a:avLst/>
          </a:prstGeom>
          <a:solidFill>
            <a:srgbClr val="F59E0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metric-value">
            <a:extLst>
              <a:ext uri="{FF2B5EF4-FFF2-40B4-BE49-F238E27FC236}">
                <a16:creationId xmlns:a16="http://schemas.microsoft.com/office/drawing/2014/main" id="{EE6E5ADE-79AF-43A4-8530-70B139180221}"/>
              </a:ext>
            </a:extLst>
          </p:cNvPr>
          <p:cNvSpPr>
            <a:spLocks noGrp="1"/>
          </p:cNvSpPr>
          <p:nvPr/>
        </p:nvSpPr>
        <p:spPr>
          <a:xfrm>
            <a:off x="5086350" y="3257550"/>
            <a:ext cx="14097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0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Insights</a:t>
            </a:r>
          </a:p>
        </p:txBody>
      </p:sp>
      <p:sp>
        <p:nvSpPr>
          <p:cNvPr id="20" name="metric-label">
            <a:extLst>
              <a:ext uri="{FF2B5EF4-FFF2-40B4-BE49-F238E27FC236}">
                <a16:creationId xmlns:a16="http://schemas.microsoft.com/office/drawing/2014/main" id="{8808C26B-4C6D-43CE-B3AF-94ABCF28395A}"/>
              </a:ext>
            </a:extLst>
          </p:cNvPr>
          <p:cNvSpPr>
            <a:spLocks noGrp="1"/>
          </p:cNvSpPr>
          <p:nvPr/>
        </p:nvSpPr>
        <p:spPr>
          <a:xfrm>
            <a:off x="5086350" y="3590925"/>
            <a:ext cx="14097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what and why</a:t>
            </a:r>
          </a:p>
        </p:txBody>
      </p:sp>
      <p:sp>
        <p:nvSpPr>
          <p:cNvPr id="21" name="metric-context">
            <a:extLst>
              <a:ext uri="{FF2B5EF4-FFF2-40B4-BE49-F238E27FC236}">
                <a16:creationId xmlns:a16="http://schemas.microsoft.com/office/drawing/2014/main" id="{D822B3AE-5798-4C77-A89A-837EAC977F9C}"/>
              </a:ext>
            </a:extLst>
          </p:cNvPr>
          <p:cNvSpPr>
            <a:spLocks noGrp="1"/>
          </p:cNvSpPr>
          <p:nvPr/>
        </p:nvSpPr>
        <p:spPr>
          <a:xfrm>
            <a:off x="5086350" y="3829050"/>
            <a:ext cx="14097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Evidence, action, next question.</a:t>
            </a:r>
          </a:p>
        </p:txBody>
      </p:sp>
      <p:sp>
        <p:nvSpPr>
          <p:cNvPr id="22" name="support-note">
            <a:extLst>
              <a:ext uri="{FF2B5EF4-FFF2-40B4-BE49-F238E27FC236}">
                <a16:creationId xmlns:a16="http://schemas.microsoft.com/office/drawing/2014/main" id="{B54228B2-CE05-462B-95F4-FB0FF7060467}"/>
              </a:ext>
            </a:extLst>
          </p:cNvPr>
          <p:cNvSpPr>
            <a:spLocks noGrp="1"/>
          </p:cNvSpPr>
          <p:nvPr/>
        </p:nvSpPr>
        <p:spPr>
          <a:xfrm>
            <a:off x="7943850" y="2857500"/>
            <a:ext cx="285750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Sections: dataset preview, KPI overview, data quality, visual analysis, business insights, and suggested questions.</a:t>
            </a:r>
          </a:p>
        </p:txBody>
      </p:sp>
      <p:sp>
        <p:nvSpPr>
          <p:cNvPr id="23" name="footer-label">
            <a:extLst>
              <a:ext uri="{FF2B5EF4-FFF2-40B4-BE49-F238E27FC236}">
                <a16:creationId xmlns:a16="http://schemas.microsoft.com/office/drawing/2014/main" id="{6C2CA6E9-4717-4ACA-8EB0-A52269720927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4000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AI Analytics SaaS MVP | Sales introduction</a:t>
            </a:r>
          </a:p>
        </p:txBody>
      </p:sp>
      <p:sp>
        <p:nvSpPr>
          <p:cNvPr id="24" name="footer-page">
            <a:extLst>
              <a:ext uri="{FF2B5EF4-FFF2-40B4-BE49-F238E27FC236}">
                <a16:creationId xmlns:a16="http://schemas.microsoft.com/office/drawing/2014/main" id="{4F19DCF8-8A91-4981-BD18-388404F19485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4572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4156209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background">
            <a:extLst>
              <a:ext uri="{FF2B5EF4-FFF2-40B4-BE49-F238E27FC236}">
                <a16:creationId xmlns:a16="http://schemas.microsoft.com/office/drawing/2014/main" id="{01A5883B-981C-4150-BB32-76EF46D503F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>
              <a:ext uri="{FF2B5EF4-FFF2-40B4-BE49-F238E27FC236}">
                <a16:creationId xmlns:a16="http://schemas.microsoft.com/office/drawing/2014/main" id="{7B016A24-6404-4ED8-9438-AE9ECCE7D85F}"/>
              </a:ext>
            </a:extLst>
          </p:cNvPr>
          <p:cNvSpPr>
            <a:spLocks noGrp="1"/>
          </p:cNvSpPr>
          <p:nvPr/>
        </p:nvSpPr>
        <p:spPr>
          <a:xfrm>
            <a:off x="609600" y="533400"/>
            <a:ext cx="323850" cy="28575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>
              <a:ext uri="{FF2B5EF4-FFF2-40B4-BE49-F238E27FC236}">
                <a16:creationId xmlns:a16="http://schemas.microsoft.com/office/drawing/2014/main" id="{C5A23D5A-3956-48CC-B70A-A280279117B1}"/>
              </a:ext>
            </a:extLst>
          </p:cNvPr>
          <p:cNvSpPr>
            <a:spLocks noGrp="1"/>
          </p:cNvSpPr>
          <p:nvPr/>
        </p:nvSpPr>
        <p:spPr>
          <a:xfrm>
            <a:off x="1047750" y="457200"/>
            <a:ext cx="342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DOMAIN REACH</a:t>
            </a:r>
          </a:p>
        </p:txBody>
      </p:sp>
      <p:sp>
        <p:nvSpPr>
          <p:cNvPr id="4" name="claim-title">
            <a:extLst>
              <a:ext uri="{FF2B5EF4-FFF2-40B4-BE49-F238E27FC236}">
                <a16:creationId xmlns:a16="http://schemas.microsoft.com/office/drawing/2014/main" id="{7C93DED3-3531-41A2-BF3D-5B8E8C5CF13F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838200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9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Domain-aware analytics lets one engine serve multiple business teams.</a:t>
            </a:r>
          </a:p>
        </p:txBody>
      </p:sp>
      <p:sp>
        <p:nvSpPr>
          <p:cNvPr id="5" name="domain-row">
            <a:extLst>
              <a:ext uri="{FF2B5EF4-FFF2-40B4-BE49-F238E27FC236}">
                <a16:creationId xmlns:a16="http://schemas.microsoft.com/office/drawing/2014/main" id="{1E4C1010-E4A1-4389-AE12-F515B37C8E6A}"/>
              </a:ext>
            </a:extLst>
          </p:cNvPr>
          <p:cNvSpPr>
            <a:spLocks noGrp="1"/>
          </p:cNvSpPr>
          <p:nvPr/>
        </p:nvSpPr>
        <p:spPr>
          <a:xfrm>
            <a:off x="914400" y="2266950"/>
            <a:ext cx="9715500" cy="457200"/>
          </a:xfrm>
          <a:prstGeom prst="rect">
            <a:avLst/>
          </a:prstGeom>
          <a:solidFill>
            <a:srgbClr val="EEF2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domain-accent">
            <a:extLst>
              <a:ext uri="{FF2B5EF4-FFF2-40B4-BE49-F238E27FC236}">
                <a16:creationId xmlns:a16="http://schemas.microsoft.com/office/drawing/2014/main" id="{A953D396-835A-4AD3-9D07-FC79E0C246A1}"/>
              </a:ext>
            </a:extLst>
          </p:cNvPr>
          <p:cNvSpPr>
            <a:spLocks noGrp="1"/>
          </p:cNvSpPr>
          <p:nvPr/>
        </p:nvSpPr>
        <p:spPr>
          <a:xfrm>
            <a:off x="914400" y="2266950"/>
            <a:ext cx="76200" cy="457200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domain-name">
            <a:extLst>
              <a:ext uri="{FF2B5EF4-FFF2-40B4-BE49-F238E27FC236}">
                <a16:creationId xmlns:a16="http://schemas.microsoft.com/office/drawing/2014/main" id="{BACF0991-4AAD-44ED-9978-B6D25435270F}"/>
              </a:ext>
            </a:extLst>
          </p:cNvPr>
          <p:cNvSpPr>
            <a:spLocks noGrp="1"/>
          </p:cNvSpPr>
          <p:nvPr/>
        </p:nvSpPr>
        <p:spPr>
          <a:xfrm>
            <a:off x="1181100" y="2381250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Sales</a:t>
            </a:r>
          </a:p>
        </p:txBody>
      </p:sp>
      <p:sp>
        <p:nvSpPr>
          <p:cNvPr id="8" name="domain-detail">
            <a:extLst>
              <a:ext uri="{FF2B5EF4-FFF2-40B4-BE49-F238E27FC236}">
                <a16:creationId xmlns:a16="http://schemas.microsoft.com/office/drawing/2014/main" id="{A39984B4-460A-423E-BEC9-09E7192AA722}"/>
              </a:ext>
            </a:extLst>
          </p:cNvPr>
          <p:cNvSpPr>
            <a:spLocks noGrp="1"/>
          </p:cNvSpPr>
          <p:nvPr/>
        </p:nvSpPr>
        <p:spPr>
          <a:xfrm>
            <a:off x="3048000" y="2390775"/>
            <a:ext cx="6191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Revenue, orders, profit, customer value</a:t>
            </a:r>
          </a:p>
        </p:txBody>
      </p:sp>
      <p:sp>
        <p:nvSpPr>
          <p:cNvPr id="9" name="domain-row">
            <a:extLst>
              <a:ext uri="{FF2B5EF4-FFF2-40B4-BE49-F238E27FC236}">
                <a16:creationId xmlns:a16="http://schemas.microsoft.com/office/drawing/2014/main" id="{100F7975-B765-44EE-A9DA-09F548764CBA}"/>
              </a:ext>
            </a:extLst>
          </p:cNvPr>
          <p:cNvSpPr>
            <a:spLocks noGrp="1"/>
          </p:cNvSpPr>
          <p:nvPr/>
        </p:nvSpPr>
        <p:spPr>
          <a:xfrm>
            <a:off x="914400" y="2914650"/>
            <a:ext cx="9715500" cy="457200"/>
          </a:xfrm>
          <a:prstGeom prst="rect">
            <a:avLst/>
          </a:prstGeom>
          <a:solidFill>
            <a:srgbClr val="F8FAF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domain-accent">
            <a:extLst>
              <a:ext uri="{FF2B5EF4-FFF2-40B4-BE49-F238E27FC236}">
                <a16:creationId xmlns:a16="http://schemas.microsoft.com/office/drawing/2014/main" id="{78DF9F53-367E-4253-BB0B-72E5B3E35E67}"/>
              </a:ext>
            </a:extLst>
          </p:cNvPr>
          <p:cNvSpPr>
            <a:spLocks noGrp="1"/>
          </p:cNvSpPr>
          <p:nvPr/>
        </p:nvSpPr>
        <p:spPr>
          <a:xfrm>
            <a:off x="914400" y="2914650"/>
            <a:ext cx="76200" cy="457200"/>
          </a:xfrm>
          <a:prstGeom prst="rect">
            <a:avLst/>
          </a:prstGeom>
          <a:solidFill>
            <a:srgbClr val="EF444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domain-name">
            <a:extLst>
              <a:ext uri="{FF2B5EF4-FFF2-40B4-BE49-F238E27FC236}">
                <a16:creationId xmlns:a16="http://schemas.microsoft.com/office/drawing/2014/main" id="{4E841739-CEBD-424B-8362-F72D71F5CB0B}"/>
              </a:ext>
            </a:extLst>
          </p:cNvPr>
          <p:cNvSpPr>
            <a:spLocks noGrp="1"/>
          </p:cNvSpPr>
          <p:nvPr/>
        </p:nvSpPr>
        <p:spPr>
          <a:xfrm>
            <a:off x="1181100" y="3028950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Churn</a:t>
            </a:r>
          </a:p>
        </p:txBody>
      </p:sp>
      <p:sp>
        <p:nvSpPr>
          <p:cNvPr id="12" name="domain-detail">
            <a:extLst>
              <a:ext uri="{FF2B5EF4-FFF2-40B4-BE49-F238E27FC236}">
                <a16:creationId xmlns:a16="http://schemas.microsoft.com/office/drawing/2014/main" id="{DE2C1C13-4721-4C05-8A10-CF5EBF5B447B}"/>
              </a:ext>
            </a:extLst>
          </p:cNvPr>
          <p:cNvSpPr>
            <a:spLocks noGrp="1"/>
          </p:cNvSpPr>
          <p:nvPr/>
        </p:nvSpPr>
        <p:spPr>
          <a:xfrm>
            <a:off x="3048000" y="3038475"/>
            <a:ext cx="6191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Retention, risk segments, churn drivers</a:t>
            </a:r>
          </a:p>
        </p:txBody>
      </p:sp>
      <p:sp>
        <p:nvSpPr>
          <p:cNvPr id="13" name="domain-row">
            <a:extLst>
              <a:ext uri="{FF2B5EF4-FFF2-40B4-BE49-F238E27FC236}">
                <a16:creationId xmlns:a16="http://schemas.microsoft.com/office/drawing/2014/main" id="{A5C6132A-5B27-49DE-8CF6-E339FB521AA7}"/>
              </a:ext>
            </a:extLst>
          </p:cNvPr>
          <p:cNvSpPr>
            <a:spLocks noGrp="1"/>
          </p:cNvSpPr>
          <p:nvPr/>
        </p:nvSpPr>
        <p:spPr>
          <a:xfrm>
            <a:off x="914400" y="3562350"/>
            <a:ext cx="9715500" cy="457200"/>
          </a:xfrm>
          <a:prstGeom prst="rect">
            <a:avLst/>
          </a:prstGeom>
          <a:solidFill>
            <a:srgbClr val="EEF2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domain-accent">
            <a:extLst>
              <a:ext uri="{FF2B5EF4-FFF2-40B4-BE49-F238E27FC236}">
                <a16:creationId xmlns:a16="http://schemas.microsoft.com/office/drawing/2014/main" id="{0332474D-2AB3-4039-8D0F-5B92782ECCF7}"/>
              </a:ext>
            </a:extLst>
          </p:cNvPr>
          <p:cNvSpPr>
            <a:spLocks noGrp="1"/>
          </p:cNvSpPr>
          <p:nvPr/>
        </p:nvSpPr>
        <p:spPr>
          <a:xfrm>
            <a:off x="914400" y="3562350"/>
            <a:ext cx="76200" cy="457200"/>
          </a:xfrm>
          <a:prstGeom prst="rect">
            <a:avLst/>
          </a:prstGeom>
          <a:solidFill>
            <a:srgbClr val="10B98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domain-name">
            <a:extLst>
              <a:ext uri="{FF2B5EF4-FFF2-40B4-BE49-F238E27FC236}">
                <a16:creationId xmlns:a16="http://schemas.microsoft.com/office/drawing/2014/main" id="{41613B29-7E9B-4C89-84E9-7C9B0051C377}"/>
              </a:ext>
            </a:extLst>
          </p:cNvPr>
          <p:cNvSpPr>
            <a:spLocks noGrp="1"/>
          </p:cNvSpPr>
          <p:nvPr/>
        </p:nvSpPr>
        <p:spPr>
          <a:xfrm>
            <a:off x="1181100" y="3676650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Healthcare</a:t>
            </a:r>
          </a:p>
        </p:txBody>
      </p:sp>
      <p:sp>
        <p:nvSpPr>
          <p:cNvPr id="16" name="domain-detail">
            <a:extLst>
              <a:ext uri="{FF2B5EF4-FFF2-40B4-BE49-F238E27FC236}">
                <a16:creationId xmlns:a16="http://schemas.microsoft.com/office/drawing/2014/main" id="{27C524ED-D45B-4A74-BDEC-5977F43B3BAE}"/>
              </a:ext>
            </a:extLst>
          </p:cNvPr>
          <p:cNvSpPr>
            <a:spLocks noGrp="1"/>
          </p:cNvSpPr>
          <p:nvPr/>
        </p:nvSpPr>
        <p:spPr>
          <a:xfrm>
            <a:off x="3048000" y="3686175"/>
            <a:ext cx="6191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Risk groups, score rates, population segments</a:t>
            </a:r>
          </a:p>
        </p:txBody>
      </p:sp>
      <p:sp>
        <p:nvSpPr>
          <p:cNvPr id="17" name="domain-row">
            <a:extLst>
              <a:ext uri="{FF2B5EF4-FFF2-40B4-BE49-F238E27FC236}">
                <a16:creationId xmlns:a16="http://schemas.microsoft.com/office/drawing/2014/main" id="{75CF5D3A-D9FD-48AA-9822-AE1D2DA682C1}"/>
              </a:ext>
            </a:extLst>
          </p:cNvPr>
          <p:cNvSpPr>
            <a:spLocks noGrp="1"/>
          </p:cNvSpPr>
          <p:nvPr/>
        </p:nvSpPr>
        <p:spPr>
          <a:xfrm>
            <a:off x="914400" y="4210050"/>
            <a:ext cx="9715500" cy="457200"/>
          </a:xfrm>
          <a:prstGeom prst="rect">
            <a:avLst/>
          </a:prstGeom>
          <a:solidFill>
            <a:srgbClr val="F8FAF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domain-accent">
            <a:extLst>
              <a:ext uri="{FF2B5EF4-FFF2-40B4-BE49-F238E27FC236}">
                <a16:creationId xmlns:a16="http://schemas.microsoft.com/office/drawing/2014/main" id="{1E3FA23F-D485-4CB1-9A6C-6D1F31ADA9E7}"/>
              </a:ext>
            </a:extLst>
          </p:cNvPr>
          <p:cNvSpPr>
            <a:spLocks noGrp="1"/>
          </p:cNvSpPr>
          <p:nvPr/>
        </p:nvSpPr>
        <p:spPr>
          <a:xfrm>
            <a:off x="914400" y="4210050"/>
            <a:ext cx="76200" cy="457200"/>
          </a:xfrm>
          <a:prstGeom prst="rect">
            <a:avLst/>
          </a:prstGeom>
          <a:solidFill>
            <a:srgbClr val="F59E0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domain-name">
            <a:extLst>
              <a:ext uri="{FF2B5EF4-FFF2-40B4-BE49-F238E27FC236}">
                <a16:creationId xmlns:a16="http://schemas.microsoft.com/office/drawing/2014/main" id="{D1EFCDF5-178B-4547-9776-3343087129EB}"/>
              </a:ext>
            </a:extLst>
          </p:cNvPr>
          <p:cNvSpPr>
            <a:spLocks noGrp="1"/>
          </p:cNvSpPr>
          <p:nvPr/>
        </p:nvSpPr>
        <p:spPr>
          <a:xfrm>
            <a:off x="1181100" y="4324350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Finance</a:t>
            </a:r>
          </a:p>
        </p:txBody>
      </p:sp>
      <p:sp>
        <p:nvSpPr>
          <p:cNvPr id="20" name="domain-detail">
            <a:extLst>
              <a:ext uri="{FF2B5EF4-FFF2-40B4-BE49-F238E27FC236}">
                <a16:creationId xmlns:a16="http://schemas.microsoft.com/office/drawing/2014/main" id="{691AC514-A1A1-405A-BCDE-1AD2170C53A0}"/>
              </a:ext>
            </a:extLst>
          </p:cNvPr>
          <p:cNvSpPr>
            <a:spLocks noGrp="1"/>
          </p:cNvSpPr>
          <p:nvPr/>
        </p:nvSpPr>
        <p:spPr>
          <a:xfrm>
            <a:off x="3048000" y="4333875"/>
            <a:ext cx="6191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Variance, trend, outlier, board reporting</a:t>
            </a:r>
          </a:p>
        </p:txBody>
      </p:sp>
      <p:sp>
        <p:nvSpPr>
          <p:cNvPr id="21" name="domain-row">
            <a:extLst>
              <a:ext uri="{FF2B5EF4-FFF2-40B4-BE49-F238E27FC236}">
                <a16:creationId xmlns:a16="http://schemas.microsoft.com/office/drawing/2014/main" id="{6762ABA0-96ED-4B72-B9DD-3DE24E4AD8C7}"/>
              </a:ext>
            </a:extLst>
          </p:cNvPr>
          <p:cNvSpPr>
            <a:spLocks noGrp="1"/>
          </p:cNvSpPr>
          <p:nvPr/>
        </p:nvSpPr>
        <p:spPr>
          <a:xfrm>
            <a:off x="914400" y="4857750"/>
            <a:ext cx="9715500" cy="457200"/>
          </a:xfrm>
          <a:prstGeom prst="rect">
            <a:avLst/>
          </a:prstGeom>
          <a:solidFill>
            <a:srgbClr val="EEF2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domain-accent">
            <a:extLst>
              <a:ext uri="{FF2B5EF4-FFF2-40B4-BE49-F238E27FC236}">
                <a16:creationId xmlns:a16="http://schemas.microsoft.com/office/drawing/2014/main" id="{68D15D09-D4E6-4308-9941-A86EB53F1630}"/>
              </a:ext>
            </a:extLst>
          </p:cNvPr>
          <p:cNvSpPr>
            <a:spLocks noGrp="1"/>
          </p:cNvSpPr>
          <p:nvPr/>
        </p:nvSpPr>
        <p:spPr>
          <a:xfrm>
            <a:off x="914400" y="4857750"/>
            <a:ext cx="76200" cy="457200"/>
          </a:xfrm>
          <a:prstGeom prst="rect">
            <a:avLst/>
          </a:prstGeom>
          <a:solidFill>
            <a:srgbClr val="22D3E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domain-name">
            <a:extLst>
              <a:ext uri="{FF2B5EF4-FFF2-40B4-BE49-F238E27FC236}">
                <a16:creationId xmlns:a16="http://schemas.microsoft.com/office/drawing/2014/main" id="{40D4C96D-7D6C-495C-8864-9DBCDB85A1A5}"/>
              </a:ext>
            </a:extLst>
          </p:cNvPr>
          <p:cNvSpPr>
            <a:spLocks noGrp="1"/>
          </p:cNvSpPr>
          <p:nvPr/>
        </p:nvSpPr>
        <p:spPr>
          <a:xfrm>
            <a:off x="1181100" y="4972050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Operations</a:t>
            </a:r>
          </a:p>
        </p:txBody>
      </p:sp>
      <p:sp>
        <p:nvSpPr>
          <p:cNvPr id="24" name="domain-detail">
            <a:extLst>
              <a:ext uri="{FF2B5EF4-FFF2-40B4-BE49-F238E27FC236}">
                <a16:creationId xmlns:a16="http://schemas.microsoft.com/office/drawing/2014/main" id="{2209398E-085A-4E99-B2B3-B992BE342FDA}"/>
              </a:ext>
            </a:extLst>
          </p:cNvPr>
          <p:cNvSpPr>
            <a:spLocks noGrp="1"/>
          </p:cNvSpPr>
          <p:nvPr/>
        </p:nvSpPr>
        <p:spPr>
          <a:xfrm>
            <a:off x="3048000" y="4981575"/>
            <a:ext cx="6191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Volume, quality, exceptions, performance</a:t>
            </a:r>
          </a:p>
        </p:txBody>
      </p:sp>
      <p:sp>
        <p:nvSpPr>
          <p:cNvPr id="25" name="footer-label">
            <a:extLst>
              <a:ext uri="{FF2B5EF4-FFF2-40B4-BE49-F238E27FC236}">
                <a16:creationId xmlns:a16="http://schemas.microsoft.com/office/drawing/2014/main" id="{5FE04947-113B-4EDC-9F49-60B3C1B0EB92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4000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AI Analytics SaaS MVP | Sales introduction</a:t>
            </a:r>
          </a:p>
        </p:txBody>
      </p:sp>
      <p:sp>
        <p:nvSpPr>
          <p:cNvPr id="26" name="footer-page">
            <a:extLst>
              <a:ext uri="{FF2B5EF4-FFF2-40B4-BE49-F238E27FC236}">
                <a16:creationId xmlns:a16="http://schemas.microsoft.com/office/drawing/2014/main" id="{CC576F91-A862-42C1-9A14-3C0A72A410B1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4572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7109115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ackground">
            <a:extLst>
              <a:ext uri="{FF2B5EF4-FFF2-40B4-BE49-F238E27FC236}">
                <a16:creationId xmlns:a16="http://schemas.microsoft.com/office/drawing/2014/main" id="{C239E784-1CA1-4FD6-87CA-6DC55573062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>
              <a:ext uri="{FF2B5EF4-FFF2-40B4-BE49-F238E27FC236}">
                <a16:creationId xmlns:a16="http://schemas.microsoft.com/office/drawing/2014/main" id="{24FBED9E-A220-40F8-9EBC-A41706D0B092}"/>
              </a:ext>
            </a:extLst>
          </p:cNvPr>
          <p:cNvSpPr>
            <a:spLocks noGrp="1"/>
          </p:cNvSpPr>
          <p:nvPr/>
        </p:nvSpPr>
        <p:spPr>
          <a:xfrm>
            <a:off x="609600" y="533400"/>
            <a:ext cx="323850" cy="28575"/>
          </a:xfrm>
          <a:prstGeom prst="rect">
            <a:avLst/>
          </a:prstGeom>
          <a:solidFill>
            <a:srgbClr val="22D3E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>
              <a:ext uri="{FF2B5EF4-FFF2-40B4-BE49-F238E27FC236}">
                <a16:creationId xmlns:a16="http://schemas.microsoft.com/office/drawing/2014/main" id="{834377C9-4793-4CF3-837B-DA20024EBF4B}"/>
              </a:ext>
            </a:extLst>
          </p:cNvPr>
          <p:cNvSpPr>
            <a:spLocks noGrp="1"/>
          </p:cNvSpPr>
          <p:nvPr/>
        </p:nvSpPr>
        <p:spPr>
          <a:xfrm>
            <a:off x="1047750" y="457200"/>
            <a:ext cx="342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22D3EE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2D3EE"/>
                </a:solidFill>
                <a:latin typeface="Aptos"/>
                <a:ea typeface="Aptos"/>
                <a:cs typeface="Aptos"/>
              </a:rPr>
              <a:t>PRESENTATION LAYER</a:t>
            </a:r>
          </a:p>
        </p:txBody>
      </p:sp>
      <p:sp>
        <p:nvSpPr>
          <p:cNvPr id="4" name="claim-title">
            <a:extLst>
              <a:ext uri="{FF2B5EF4-FFF2-40B4-BE49-F238E27FC236}">
                <a16:creationId xmlns:a16="http://schemas.microsoft.com/office/drawing/2014/main" id="{2E879F95-B142-448F-BBD9-4DAE9FFD79C2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781050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9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Exports turn analysis into meeting materials, not raw files.</a:t>
            </a:r>
          </a:p>
        </p:txBody>
      </p:sp>
      <p:sp>
        <p:nvSpPr>
          <p:cNvPr id="5" name="stage-box">
            <a:extLst>
              <a:ext uri="{FF2B5EF4-FFF2-40B4-BE49-F238E27FC236}">
                <a16:creationId xmlns:a16="http://schemas.microsoft.com/office/drawing/2014/main" id="{6CCA148B-3A22-459D-8B28-1B89DAAC477E}"/>
              </a:ext>
            </a:extLst>
          </p:cNvPr>
          <p:cNvSpPr>
            <a:spLocks noGrp="1"/>
          </p:cNvSpPr>
          <p:nvPr/>
        </p:nvSpPr>
        <p:spPr>
          <a:xfrm>
            <a:off x="819150" y="2724150"/>
            <a:ext cx="2286000" cy="1066800"/>
          </a:xfrm>
          <a:prstGeom prst="rect">
            <a:avLst/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6" name="stage-accent">
            <a:extLst>
              <a:ext uri="{FF2B5EF4-FFF2-40B4-BE49-F238E27FC236}">
                <a16:creationId xmlns:a16="http://schemas.microsoft.com/office/drawing/2014/main" id="{DF4BC2CE-AE4A-494A-8AAF-FA92C8C7A339}"/>
              </a:ext>
            </a:extLst>
          </p:cNvPr>
          <p:cNvSpPr>
            <a:spLocks noGrp="1"/>
          </p:cNvSpPr>
          <p:nvPr/>
        </p:nvSpPr>
        <p:spPr>
          <a:xfrm>
            <a:off x="819150" y="2724150"/>
            <a:ext cx="2286000" cy="66675"/>
          </a:xfrm>
          <a:prstGeom prst="rect">
            <a:avLst/>
          </a:prstGeom>
          <a:solidFill>
            <a:srgbClr val="22D3E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stage-label">
            <a:extLst>
              <a:ext uri="{FF2B5EF4-FFF2-40B4-BE49-F238E27FC236}">
                <a16:creationId xmlns:a16="http://schemas.microsoft.com/office/drawing/2014/main" id="{C9649162-5112-4CFD-8D7F-75D49CD38547}"/>
              </a:ext>
            </a:extLst>
          </p:cNvPr>
          <p:cNvSpPr>
            <a:spLocks noGrp="1"/>
          </p:cNvSpPr>
          <p:nvPr/>
        </p:nvSpPr>
        <p:spPr>
          <a:xfrm>
            <a:off x="990600" y="2933700"/>
            <a:ext cx="19431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PDF</a:t>
            </a:r>
          </a:p>
        </p:txBody>
      </p:sp>
      <p:sp>
        <p:nvSpPr>
          <p:cNvPr id="8" name="stage-sub">
            <a:extLst>
              <a:ext uri="{FF2B5EF4-FFF2-40B4-BE49-F238E27FC236}">
                <a16:creationId xmlns:a16="http://schemas.microsoft.com/office/drawing/2014/main" id="{471A3229-09E9-496B-8ECC-39136CA30D75}"/>
              </a:ext>
            </a:extLst>
          </p:cNvPr>
          <p:cNvSpPr>
            <a:spLocks noGrp="1"/>
          </p:cNvSpPr>
          <p:nvPr/>
        </p:nvSpPr>
        <p:spPr>
          <a:xfrm>
            <a:off x="990600" y="3200400"/>
            <a:ext cx="19431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A7B0C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7B0C0"/>
                </a:solidFill>
                <a:latin typeface="Aptos"/>
                <a:ea typeface="Aptos"/>
                <a:cs typeface="Aptos"/>
              </a:rPr>
              <a:t>Executive reports with KPIs, charts, insights, and recommendations.</a:t>
            </a:r>
          </a:p>
        </p:txBody>
      </p:sp>
      <p:sp>
        <p:nvSpPr>
          <p:cNvPr id="9" name="stage-box">
            <a:extLst>
              <a:ext uri="{FF2B5EF4-FFF2-40B4-BE49-F238E27FC236}">
                <a16:creationId xmlns:a16="http://schemas.microsoft.com/office/drawing/2014/main" id="{F6A04797-CA00-41D4-B67C-C940B7D6E663}"/>
              </a:ext>
            </a:extLst>
          </p:cNvPr>
          <p:cNvSpPr>
            <a:spLocks noGrp="1"/>
          </p:cNvSpPr>
          <p:nvPr/>
        </p:nvSpPr>
        <p:spPr>
          <a:xfrm>
            <a:off x="3619500" y="2724150"/>
            <a:ext cx="2286000" cy="1066800"/>
          </a:xfrm>
          <a:prstGeom prst="rect">
            <a:avLst/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0" name="stage-accent">
            <a:extLst>
              <a:ext uri="{FF2B5EF4-FFF2-40B4-BE49-F238E27FC236}">
                <a16:creationId xmlns:a16="http://schemas.microsoft.com/office/drawing/2014/main" id="{9077B3F9-C2C8-4D1C-ADDA-DD3C6186B7AD}"/>
              </a:ext>
            </a:extLst>
          </p:cNvPr>
          <p:cNvSpPr>
            <a:spLocks noGrp="1"/>
          </p:cNvSpPr>
          <p:nvPr/>
        </p:nvSpPr>
        <p:spPr>
          <a:xfrm>
            <a:off x="3619500" y="2724150"/>
            <a:ext cx="2286000" cy="66675"/>
          </a:xfrm>
          <a:prstGeom prst="rect">
            <a:avLst/>
          </a:prstGeom>
          <a:solidFill>
            <a:srgbClr val="F59E0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stage-label">
            <a:extLst>
              <a:ext uri="{FF2B5EF4-FFF2-40B4-BE49-F238E27FC236}">
                <a16:creationId xmlns:a16="http://schemas.microsoft.com/office/drawing/2014/main" id="{B23F1190-B40B-4985-BF19-B1AE26947479}"/>
              </a:ext>
            </a:extLst>
          </p:cNvPr>
          <p:cNvSpPr>
            <a:spLocks noGrp="1"/>
          </p:cNvSpPr>
          <p:nvPr/>
        </p:nvSpPr>
        <p:spPr>
          <a:xfrm>
            <a:off x="3790950" y="2933700"/>
            <a:ext cx="19431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PPTX</a:t>
            </a:r>
          </a:p>
        </p:txBody>
      </p:sp>
      <p:sp>
        <p:nvSpPr>
          <p:cNvPr id="12" name="stage-sub">
            <a:extLst>
              <a:ext uri="{FF2B5EF4-FFF2-40B4-BE49-F238E27FC236}">
                <a16:creationId xmlns:a16="http://schemas.microsoft.com/office/drawing/2014/main" id="{D84E72BB-1B4D-4419-A615-0A471929D2E9}"/>
              </a:ext>
            </a:extLst>
          </p:cNvPr>
          <p:cNvSpPr>
            <a:spLocks noGrp="1"/>
          </p:cNvSpPr>
          <p:nvPr/>
        </p:nvSpPr>
        <p:spPr>
          <a:xfrm>
            <a:off x="3790950" y="3200400"/>
            <a:ext cx="19431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A7B0C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7B0C0"/>
                </a:solidFill>
                <a:latin typeface="Aptos"/>
                <a:ea typeface="Aptos"/>
                <a:cs typeface="Aptos"/>
              </a:rPr>
              <a:t>Slide-ready summaries and selected visuals for board meetings.</a:t>
            </a:r>
          </a:p>
        </p:txBody>
      </p:sp>
      <p:sp>
        <p:nvSpPr>
          <p:cNvPr id="13" name="stage-box">
            <a:extLst>
              <a:ext uri="{FF2B5EF4-FFF2-40B4-BE49-F238E27FC236}">
                <a16:creationId xmlns:a16="http://schemas.microsoft.com/office/drawing/2014/main" id="{B6B0FD6E-07F0-4287-AF30-C0CD78024E18}"/>
              </a:ext>
            </a:extLst>
          </p:cNvPr>
          <p:cNvSpPr>
            <a:spLocks noGrp="1"/>
          </p:cNvSpPr>
          <p:nvPr/>
        </p:nvSpPr>
        <p:spPr>
          <a:xfrm>
            <a:off x="6419850" y="2724150"/>
            <a:ext cx="2286000" cy="1066800"/>
          </a:xfrm>
          <a:prstGeom prst="rect">
            <a:avLst/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4" name="stage-accent">
            <a:extLst>
              <a:ext uri="{FF2B5EF4-FFF2-40B4-BE49-F238E27FC236}">
                <a16:creationId xmlns:a16="http://schemas.microsoft.com/office/drawing/2014/main" id="{06634FFD-97C4-4C41-978D-A08EE3032EEE}"/>
              </a:ext>
            </a:extLst>
          </p:cNvPr>
          <p:cNvSpPr>
            <a:spLocks noGrp="1"/>
          </p:cNvSpPr>
          <p:nvPr/>
        </p:nvSpPr>
        <p:spPr>
          <a:xfrm>
            <a:off x="6419850" y="2724150"/>
            <a:ext cx="2286000" cy="66675"/>
          </a:xfrm>
          <a:prstGeom prst="rect">
            <a:avLst/>
          </a:prstGeom>
          <a:solidFill>
            <a:srgbClr val="10B98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stage-label">
            <a:extLst>
              <a:ext uri="{FF2B5EF4-FFF2-40B4-BE49-F238E27FC236}">
                <a16:creationId xmlns:a16="http://schemas.microsoft.com/office/drawing/2014/main" id="{C7986364-572B-4643-AA1C-C0C5344DFBE2}"/>
              </a:ext>
            </a:extLst>
          </p:cNvPr>
          <p:cNvSpPr>
            <a:spLocks noGrp="1"/>
          </p:cNvSpPr>
          <p:nvPr/>
        </p:nvSpPr>
        <p:spPr>
          <a:xfrm>
            <a:off x="6591300" y="2933700"/>
            <a:ext cx="19431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XLSX</a:t>
            </a:r>
          </a:p>
        </p:txBody>
      </p:sp>
      <p:sp>
        <p:nvSpPr>
          <p:cNvPr id="16" name="stage-sub">
            <a:extLst>
              <a:ext uri="{FF2B5EF4-FFF2-40B4-BE49-F238E27FC236}">
                <a16:creationId xmlns:a16="http://schemas.microsoft.com/office/drawing/2014/main" id="{D14B2A76-1863-4970-8DD4-A08D34259F07}"/>
              </a:ext>
            </a:extLst>
          </p:cNvPr>
          <p:cNvSpPr>
            <a:spLocks noGrp="1"/>
          </p:cNvSpPr>
          <p:nvPr/>
        </p:nvSpPr>
        <p:spPr>
          <a:xfrm>
            <a:off x="6591300" y="3200400"/>
            <a:ext cx="19431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A7B0C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7B0C0"/>
                </a:solidFill>
                <a:latin typeface="Aptos"/>
                <a:ea typeface="Aptos"/>
                <a:cs typeface="Aptos"/>
              </a:rPr>
              <a:t>Multi-sheet workbook for analysts who need detail.</a:t>
            </a:r>
          </a:p>
        </p:txBody>
      </p:sp>
      <p:sp>
        <p:nvSpPr>
          <p:cNvPr id="17" name="stage-box">
            <a:extLst>
              <a:ext uri="{FF2B5EF4-FFF2-40B4-BE49-F238E27FC236}">
                <a16:creationId xmlns:a16="http://schemas.microsoft.com/office/drawing/2014/main" id="{BDE9EAB8-CD15-485B-8115-68CEEAE2BDC3}"/>
              </a:ext>
            </a:extLst>
          </p:cNvPr>
          <p:cNvSpPr>
            <a:spLocks noGrp="1"/>
          </p:cNvSpPr>
          <p:nvPr/>
        </p:nvSpPr>
        <p:spPr>
          <a:xfrm>
            <a:off x="9220200" y="2724150"/>
            <a:ext cx="2095500" cy="1066800"/>
          </a:xfrm>
          <a:prstGeom prst="rect">
            <a:avLst/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8" name="stage-accent">
            <a:extLst>
              <a:ext uri="{FF2B5EF4-FFF2-40B4-BE49-F238E27FC236}">
                <a16:creationId xmlns:a16="http://schemas.microsoft.com/office/drawing/2014/main" id="{6D990429-A38B-4022-8D77-E42AC855C4AA}"/>
              </a:ext>
            </a:extLst>
          </p:cNvPr>
          <p:cNvSpPr>
            <a:spLocks noGrp="1"/>
          </p:cNvSpPr>
          <p:nvPr/>
        </p:nvSpPr>
        <p:spPr>
          <a:xfrm>
            <a:off x="9220200" y="2724150"/>
            <a:ext cx="2095500" cy="66675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stage-label">
            <a:extLst>
              <a:ext uri="{FF2B5EF4-FFF2-40B4-BE49-F238E27FC236}">
                <a16:creationId xmlns:a16="http://schemas.microsoft.com/office/drawing/2014/main" id="{1981C703-F4EF-4401-9514-82784901AB8F}"/>
              </a:ext>
            </a:extLst>
          </p:cNvPr>
          <p:cNvSpPr>
            <a:spLocks noGrp="1"/>
          </p:cNvSpPr>
          <p:nvPr/>
        </p:nvSpPr>
        <p:spPr>
          <a:xfrm>
            <a:off x="9391650" y="2933700"/>
            <a:ext cx="17526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PNG/CSV/JSON</a:t>
            </a:r>
          </a:p>
        </p:txBody>
      </p:sp>
      <p:sp>
        <p:nvSpPr>
          <p:cNvPr id="20" name="stage-sub">
            <a:extLst>
              <a:ext uri="{FF2B5EF4-FFF2-40B4-BE49-F238E27FC236}">
                <a16:creationId xmlns:a16="http://schemas.microsoft.com/office/drawing/2014/main" id="{B4E125A1-C4D6-46C1-B417-E42B6C0BE435}"/>
              </a:ext>
            </a:extLst>
          </p:cNvPr>
          <p:cNvSpPr>
            <a:spLocks noGrp="1"/>
          </p:cNvSpPr>
          <p:nvPr/>
        </p:nvSpPr>
        <p:spPr>
          <a:xfrm>
            <a:off x="9391650" y="3200400"/>
            <a:ext cx="17526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A7B0C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7B0C0"/>
                </a:solidFill>
                <a:latin typeface="Aptos"/>
                <a:ea typeface="Aptos"/>
                <a:cs typeface="Aptos"/>
              </a:rPr>
              <a:t>Snapshots and structured exports for sharing or downstream use.</a:t>
            </a:r>
          </a:p>
        </p:txBody>
      </p:sp>
      <p:sp>
        <p:nvSpPr>
          <p:cNvPr id="21" name="support-note">
            <a:extLst>
              <a:ext uri="{FF2B5EF4-FFF2-40B4-BE49-F238E27FC236}">
                <a16:creationId xmlns:a16="http://schemas.microsoft.com/office/drawing/2014/main" id="{5C69B6C4-EA38-413C-8A77-333596142A9F}"/>
              </a:ext>
            </a:extLst>
          </p:cNvPr>
          <p:cNvSpPr>
            <a:spLocks noGrp="1"/>
          </p:cNvSpPr>
          <p:nvPr/>
        </p:nvSpPr>
        <p:spPr>
          <a:xfrm>
            <a:off x="838200" y="4476750"/>
            <a:ext cx="6858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D8DEE9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8DEE9"/>
                </a:solidFill>
                <a:latin typeface="Aptos"/>
                <a:ea typeface="Aptos"/>
                <a:cs typeface="Aptos"/>
              </a:rPr>
              <a:t>Selected visuals can be packaged into dashboard, executive, or board report exports.</a:t>
            </a:r>
          </a:p>
        </p:txBody>
      </p:sp>
      <p:sp>
        <p:nvSpPr>
          <p:cNvPr id="22" name="footer-label">
            <a:extLst>
              <a:ext uri="{FF2B5EF4-FFF2-40B4-BE49-F238E27FC236}">
                <a16:creationId xmlns:a16="http://schemas.microsoft.com/office/drawing/2014/main" id="{0F4DEAD2-D319-4E58-9A96-1331AE3B24FF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4000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A7B0C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A7B0C0"/>
                </a:solidFill>
                <a:latin typeface="Aptos"/>
                <a:ea typeface="Aptos"/>
                <a:cs typeface="Aptos"/>
              </a:rPr>
              <a:t>AI Analytics SaaS MVP | Sales introduction</a:t>
            </a:r>
          </a:p>
        </p:txBody>
      </p:sp>
      <p:sp>
        <p:nvSpPr>
          <p:cNvPr id="23" name="footer-page">
            <a:extLst>
              <a:ext uri="{FF2B5EF4-FFF2-40B4-BE49-F238E27FC236}">
                <a16:creationId xmlns:a16="http://schemas.microsoft.com/office/drawing/2014/main" id="{FD8EB41A-5210-479D-83EE-25D2E9182C62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4572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A7B0C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A7B0C0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9451175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ackground">
            <a:extLst>
              <a:ext uri="{FF2B5EF4-FFF2-40B4-BE49-F238E27FC236}">
                <a16:creationId xmlns:a16="http://schemas.microsoft.com/office/drawing/2014/main" id="{E496F460-1A6F-44F6-8449-B0324EE969F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>
              <a:ext uri="{FF2B5EF4-FFF2-40B4-BE49-F238E27FC236}">
                <a16:creationId xmlns:a16="http://schemas.microsoft.com/office/drawing/2014/main" id="{2AC9532C-DD29-4E33-9EA2-15DD68B75AC5}"/>
              </a:ext>
            </a:extLst>
          </p:cNvPr>
          <p:cNvSpPr>
            <a:spLocks noGrp="1"/>
          </p:cNvSpPr>
          <p:nvPr/>
        </p:nvSpPr>
        <p:spPr>
          <a:xfrm>
            <a:off x="609600" y="533400"/>
            <a:ext cx="323850" cy="28575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>
              <a:ext uri="{FF2B5EF4-FFF2-40B4-BE49-F238E27FC236}">
                <a16:creationId xmlns:a16="http://schemas.microsoft.com/office/drawing/2014/main" id="{303970DE-6206-4F96-AA93-EDEF389215E9}"/>
              </a:ext>
            </a:extLst>
          </p:cNvPr>
          <p:cNvSpPr>
            <a:spLocks noGrp="1"/>
          </p:cNvSpPr>
          <p:nvPr/>
        </p:nvSpPr>
        <p:spPr>
          <a:xfrm>
            <a:off x="1047750" y="457200"/>
            <a:ext cx="342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POWER USERS</a:t>
            </a:r>
          </a:p>
        </p:txBody>
      </p:sp>
      <p:sp>
        <p:nvSpPr>
          <p:cNvPr id="4" name="claim-title">
            <a:extLst>
              <a:ext uri="{FF2B5EF4-FFF2-40B4-BE49-F238E27FC236}">
                <a16:creationId xmlns:a16="http://schemas.microsoft.com/office/drawing/2014/main" id="{11C5995E-7C3E-4B71-A031-871D3F8DE5F4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800100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9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SQL Lab and DAX Studio make the MVP credible for BI teams.</a:t>
            </a:r>
          </a:p>
        </p:txBody>
      </p:sp>
      <p:sp>
        <p:nvSpPr>
          <p:cNvPr id="5" name="stage-box">
            <a:extLst>
              <a:ext uri="{FF2B5EF4-FFF2-40B4-BE49-F238E27FC236}">
                <a16:creationId xmlns:a16="http://schemas.microsoft.com/office/drawing/2014/main" id="{00DF676B-CD5B-4FC5-95E9-2B6419985C8D}"/>
              </a:ext>
            </a:extLst>
          </p:cNvPr>
          <p:cNvSpPr>
            <a:spLocks noGrp="1"/>
          </p:cNvSpPr>
          <p:nvPr/>
        </p:nvSpPr>
        <p:spPr>
          <a:xfrm>
            <a:off x="952500" y="2724150"/>
            <a:ext cx="4286250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C8"/>
            </a:solidFill>
            <a:prstDash val="solid"/>
          </a:ln>
        </p:spPr>
      </p:sp>
      <p:sp>
        <p:nvSpPr>
          <p:cNvPr id="6" name="stage-accent">
            <a:extLst>
              <a:ext uri="{FF2B5EF4-FFF2-40B4-BE49-F238E27FC236}">
                <a16:creationId xmlns:a16="http://schemas.microsoft.com/office/drawing/2014/main" id="{CA025685-AD6F-429F-82AF-DF2E74E411AE}"/>
              </a:ext>
            </a:extLst>
          </p:cNvPr>
          <p:cNvSpPr>
            <a:spLocks noGrp="1"/>
          </p:cNvSpPr>
          <p:nvPr/>
        </p:nvSpPr>
        <p:spPr>
          <a:xfrm>
            <a:off x="952500" y="2724150"/>
            <a:ext cx="4286250" cy="66675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stage-label">
            <a:extLst>
              <a:ext uri="{FF2B5EF4-FFF2-40B4-BE49-F238E27FC236}">
                <a16:creationId xmlns:a16="http://schemas.microsoft.com/office/drawing/2014/main" id="{4F415DA6-6309-4411-B485-0A90B0705149}"/>
              </a:ext>
            </a:extLst>
          </p:cNvPr>
          <p:cNvSpPr>
            <a:spLocks noGrp="1"/>
          </p:cNvSpPr>
          <p:nvPr/>
        </p:nvSpPr>
        <p:spPr>
          <a:xfrm>
            <a:off x="1123950" y="2933700"/>
            <a:ext cx="39433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SQL Lab</a:t>
            </a:r>
          </a:p>
        </p:txBody>
      </p:sp>
      <p:sp>
        <p:nvSpPr>
          <p:cNvPr id="8" name="stage-sub">
            <a:extLst>
              <a:ext uri="{FF2B5EF4-FFF2-40B4-BE49-F238E27FC236}">
                <a16:creationId xmlns:a16="http://schemas.microsoft.com/office/drawing/2014/main" id="{0D7141E3-ABAA-40E7-958E-5662A3CF96A0}"/>
              </a:ext>
            </a:extLst>
          </p:cNvPr>
          <p:cNvSpPr>
            <a:spLocks noGrp="1"/>
          </p:cNvSpPr>
          <p:nvPr/>
        </p:nvSpPr>
        <p:spPr>
          <a:xfrm>
            <a:off x="1123950" y="3200400"/>
            <a:ext cx="39433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Natural-language SQL, editor, run, explain, optimize, save, and export.</a:t>
            </a:r>
          </a:p>
        </p:txBody>
      </p:sp>
      <p:sp>
        <p:nvSpPr>
          <p:cNvPr id="9" name="stage-box">
            <a:extLst>
              <a:ext uri="{FF2B5EF4-FFF2-40B4-BE49-F238E27FC236}">
                <a16:creationId xmlns:a16="http://schemas.microsoft.com/office/drawing/2014/main" id="{314F2440-8005-4AB4-A502-69C0BA4B2879}"/>
              </a:ext>
            </a:extLst>
          </p:cNvPr>
          <p:cNvSpPr>
            <a:spLocks noGrp="1"/>
          </p:cNvSpPr>
          <p:nvPr/>
        </p:nvSpPr>
        <p:spPr>
          <a:xfrm>
            <a:off x="6191250" y="2724150"/>
            <a:ext cx="4286250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C8"/>
            </a:solidFill>
            <a:prstDash val="solid"/>
          </a:ln>
        </p:spPr>
      </p:sp>
      <p:sp>
        <p:nvSpPr>
          <p:cNvPr id="10" name="stage-accent">
            <a:extLst>
              <a:ext uri="{FF2B5EF4-FFF2-40B4-BE49-F238E27FC236}">
                <a16:creationId xmlns:a16="http://schemas.microsoft.com/office/drawing/2014/main" id="{8425084F-4E0E-4E07-9325-E5E0D11165E3}"/>
              </a:ext>
            </a:extLst>
          </p:cNvPr>
          <p:cNvSpPr>
            <a:spLocks noGrp="1"/>
          </p:cNvSpPr>
          <p:nvPr/>
        </p:nvSpPr>
        <p:spPr>
          <a:xfrm>
            <a:off x="6191250" y="2724150"/>
            <a:ext cx="4286250" cy="66675"/>
          </a:xfrm>
          <a:prstGeom prst="rect">
            <a:avLst/>
          </a:prstGeom>
          <a:solidFill>
            <a:srgbClr val="10B98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stage-label">
            <a:extLst>
              <a:ext uri="{FF2B5EF4-FFF2-40B4-BE49-F238E27FC236}">
                <a16:creationId xmlns:a16="http://schemas.microsoft.com/office/drawing/2014/main" id="{19676C06-8A9A-43A3-9BF8-325E14418467}"/>
              </a:ext>
            </a:extLst>
          </p:cNvPr>
          <p:cNvSpPr>
            <a:spLocks noGrp="1"/>
          </p:cNvSpPr>
          <p:nvPr/>
        </p:nvSpPr>
        <p:spPr>
          <a:xfrm>
            <a:off x="6362700" y="2933700"/>
            <a:ext cx="39433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DAX Studio</a:t>
            </a:r>
          </a:p>
        </p:txBody>
      </p:sp>
      <p:sp>
        <p:nvSpPr>
          <p:cNvPr id="12" name="stage-sub">
            <a:extLst>
              <a:ext uri="{FF2B5EF4-FFF2-40B4-BE49-F238E27FC236}">
                <a16:creationId xmlns:a16="http://schemas.microsoft.com/office/drawing/2014/main" id="{E2D5F193-0297-4F2A-B428-372B6A857AD7}"/>
              </a:ext>
            </a:extLst>
          </p:cNvPr>
          <p:cNvSpPr>
            <a:spLocks noGrp="1"/>
          </p:cNvSpPr>
          <p:nvPr/>
        </p:nvSpPr>
        <p:spPr>
          <a:xfrm>
            <a:off x="6362700" y="3200400"/>
            <a:ext cx="39433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Measure preview, validation, recommended visual, dashboard placement, and executive interpretation.</a:t>
            </a:r>
          </a:p>
        </p:txBody>
      </p:sp>
      <p:sp>
        <p:nvSpPr>
          <p:cNvPr id="13" name="support-note">
            <a:extLst>
              <a:ext uri="{FF2B5EF4-FFF2-40B4-BE49-F238E27FC236}">
                <a16:creationId xmlns:a16="http://schemas.microsoft.com/office/drawing/2014/main" id="{328562B6-028C-4312-B057-712341B5F7A7}"/>
              </a:ext>
            </a:extLst>
          </p:cNvPr>
          <p:cNvSpPr>
            <a:spLocks noGrp="1"/>
          </p:cNvSpPr>
          <p:nvPr/>
        </p:nvSpPr>
        <p:spPr>
          <a:xfrm>
            <a:off x="1123950" y="4191000"/>
            <a:ext cx="88582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This positions the product as approachable for executives and useful for analysts, without forcing users into separate tools.</a:t>
            </a:r>
          </a:p>
        </p:txBody>
      </p:sp>
      <p:sp>
        <p:nvSpPr>
          <p:cNvPr id="14" name="footer-label">
            <a:extLst>
              <a:ext uri="{FF2B5EF4-FFF2-40B4-BE49-F238E27FC236}">
                <a16:creationId xmlns:a16="http://schemas.microsoft.com/office/drawing/2014/main" id="{9FBDA212-AE3E-4405-AB24-7EB57B339C95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4000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AI Analytics SaaS MVP | Sales introduction</a:t>
            </a:r>
          </a:p>
        </p:txBody>
      </p:sp>
      <p:sp>
        <p:nvSpPr>
          <p:cNvPr id="15" name="footer-page">
            <a:extLst>
              <a:ext uri="{FF2B5EF4-FFF2-40B4-BE49-F238E27FC236}">
                <a16:creationId xmlns:a16="http://schemas.microsoft.com/office/drawing/2014/main" id="{CE92E420-1654-4901-AF19-32309DC33507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4572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7411134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ackground">
            <a:extLst>
              <a:ext uri="{FF2B5EF4-FFF2-40B4-BE49-F238E27FC236}">
                <a16:creationId xmlns:a16="http://schemas.microsoft.com/office/drawing/2014/main" id="{4CBBD656-EECB-4E37-A265-ACA549B21DD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>
              <a:ext uri="{FF2B5EF4-FFF2-40B4-BE49-F238E27FC236}">
                <a16:creationId xmlns:a16="http://schemas.microsoft.com/office/drawing/2014/main" id="{6389E48E-A598-494D-AAE3-E8173E142B26}"/>
              </a:ext>
            </a:extLst>
          </p:cNvPr>
          <p:cNvSpPr>
            <a:spLocks noGrp="1"/>
          </p:cNvSpPr>
          <p:nvPr/>
        </p:nvSpPr>
        <p:spPr>
          <a:xfrm>
            <a:off x="609600" y="533400"/>
            <a:ext cx="323850" cy="28575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>
              <a:ext uri="{FF2B5EF4-FFF2-40B4-BE49-F238E27FC236}">
                <a16:creationId xmlns:a16="http://schemas.microsoft.com/office/drawing/2014/main" id="{D3FF0D09-1E42-4CDF-A652-EAEF9F9C8CDB}"/>
              </a:ext>
            </a:extLst>
          </p:cNvPr>
          <p:cNvSpPr>
            <a:spLocks noGrp="1"/>
          </p:cNvSpPr>
          <p:nvPr/>
        </p:nvSpPr>
        <p:spPr>
          <a:xfrm>
            <a:off x="1047750" y="457200"/>
            <a:ext cx="342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ARCHITECTURE</a:t>
            </a:r>
          </a:p>
        </p:txBody>
      </p:sp>
      <p:sp>
        <p:nvSpPr>
          <p:cNvPr id="4" name="claim-title">
            <a:extLst>
              <a:ext uri="{FF2B5EF4-FFF2-40B4-BE49-F238E27FC236}">
                <a16:creationId xmlns:a16="http://schemas.microsoft.com/office/drawing/2014/main" id="{81472E5F-BD4A-4144-ADB4-5DFE683A4C1E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781050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9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The MVP architecture is modular enough to grow into SaaS.</a:t>
            </a:r>
          </a:p>
        </p:txBody>
      </p:sp>
      <p:sp>
        <p:nvSpPr>
          <p:cNvPr id="5" name="stage-box">
            <a:extLst>
              <a:ext uri="{FF2B5EF4-FFF2-40B4-BE49-F238E27FC236}">
                <a16:creationId xmlns:a16="http://schemas.microsoft.com/office/drawing/2014/main" id="{D8029706-E6D7-499D-8F9B-B3F3D921984C}"/>
              </a:ext>
            </a:extLst>
          </p:cNvPr>
          <p:cNvSpPr>
            <a:spLocks noGrp="1"/>
          </p:cNvSpPr>
          <p:nvPr/>
        </p:nvSpPr>
        <p:spPr>
          <a:xfrm>
            <a:off x="742950" y="2762250"/>
            <a:ext cx="2209800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C8"/>
            </a:solidFill>
            <a:prstDash val="solid"/>
          </a:ln>
        </p:spPr>
      </p:sp>
      <p:sp>
        <p:nvSpPr>
          <p:cNvPr id="6" name="stage-accent">
            <a:extLst>
              <a:ext uri="{FF2B5EF4-FFF2-40B4-BE49-F238E27FC236}">
                <a16:creationId xmlns:a16="http://schemas.microsoft.com/office/drawing/2014/main" id="{7E736237-8B4B-49AE-BFBA-0CE4FDE323C8}"/>
              </a:ext>
            </a:extLst>
          </p:cNvPr>
          <p:cNvSpPr>
            <a:spLocks noGrp="1"/>
          </p:cNvSpPr>
          <p:nvPr/>
        </p:nvSpPr>
        <p:spPr>
          <a:xfrm>
            <a:off x="742950" y="2762250"/>
            <a:ext cx="2209800" cy="66675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stage-label">
            <a:extLst>
              <a:ext uri="{FF2B5EF4-FFF2-40B4-BE49-F238E27FC236}">
                <a16:creationId xmlns:a16="http://schemas.microsoft.com/office/drawing/2014/main" id="{C89EA03E-A375-43EF-B7D1-EEE0A8E2C959}"/>
              </a:ext>
            </a:extLst>
          </p:cNvPr>
          <p:cNvSpPr>
            <a:spLocks noGrp="1"/>
          </p:cNvSpPr>
          <p:nvPr/>
        </p:nvSpPr>
        <p:spPr>
          <a:xfrm>
            <a:off x="914400" y="2971800"/>
            <a:ext cx="1866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Streamlit UI</a:t>
            </a:r>
          </a:p>
        </p:txBody>
      </p:sp>
      <p:sp>
        <p:nvSpPr>
          <p:cNvPr id="8" name="stage-sub">
            <a:extLst>
              <a:ext uri="{FF2B5EF4-FFF2-40B4-BE49-F238E27FC236}">
                <a16:creationId xmlns:a16="http://schemas.microsoft.com/office/drawing/2014/main" id="{8C7B2D29-DF02-48DB-8EE0-C5E8CBBF3248}"/>
              </a:ext>
            </a:extLst>
          </p:cNvPr>
          <p:cNvSpPr>
            <a:spLocks noGrp="1"/>
          </p:cNvSpPr>
          <p:nvPr/>
        </p:nvSpPr>
        <p:spPr>
          <a:xfrm>
            <a:off x="914400" y="3238500"/>
            <a:ext cx="18669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Dashboard, SQL Lab, DAX Studio, presentation mode, exports.</a:t>
            </a:r>
          </a:p>
        </p:txBody>
      </p:sp>
      <p:sp>
        <p:nvSpPr>
          <p:cNvPr id="9" name="stage-box">
            <a:extLst>
              <a:ext uri="{FF2B5EF4-FFF2-40B4-BE49-F238E27FC236}">
                <a16:creationId xmlns:a16="http://schemas.microsoft.com/office/drawing/2014/main" id="{55C67B37-9051-4363-893A-C683D4F68465}"/>
              </a:ext>
            </a:extLst>
          </p:cNvPr>
          <p:cNvSpPr>
            <a:spLocks noGrp="1"/>
          </p:cNvSpPr>
          <p:nvPr/>
        </p:nvSpPr>
        <p:spPr>
          <a:xfrm>
            <a:off x="3467100" y="2762250"/>
            <a:ext cx="2209800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C8"/>
            </a:solidFill>
            <a:prstDash val="solid"/>
          </a:ln>
        </p:spPr>
      </p:sp>
      <p:sp>
        <p:nvSpPr>
          <p:cNvPr id="10" name="stage-accent">
            <a:extLst>
              <a:ext uri="{FF2B5EF4-FFF2-40B4-BE49-F238E27FC236}">
                <a16:creationId xmlns:a16="http://schemas.microsoft.com/office/drawing/2014/main" id="{907E78E3-939F-4C67-9198-4A2559980A33}"/>
              </a:ext>
            </a:extLst>
          </p:cNvPr>
          <p:cNvSpPr>
            <a:spLocks noGrp="1"/>
          </p:cNvSpPr>
          <p:nvPr/>
        </p:nvSpPr>
        <p:spPr>
          <a:xfrm>
            <a:off x="3467100" y="2762250"/>
            <a:ext cx="2209800" cy="66675"/>
          </a:xfrm>
          <a:prstGeom prst="rect">
            <a:avLst/>
          </a:prstGeom>
          <a:solidFill>
            <a:srgbClr val="22D3E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stage-label">
            <a:extLst>
              <a:ext uri="{FF2B5EF4-FFF2-40B4-BE49-F238E27FC236}">
                <a16:creationId xmlns:a16="http://schemas.microsoft.com/office/drawing/2014/main" id="{D5B70D02-8F80-4AD2-B8F1-759C030A339D}"/>
              </a:ext>
            </a:extLst>
          </p:cNvPr>
          <p:cNvSpPr>
            <a:spLocks noGrp="1"/>
          </p:cNvSpPr>
          <p:nvPr/>
        </p:nvSpPr>
        <p:spPr>
          <a:xfrm>
            <a:off x="3638550" y="2971800"/>
            <a:ext cx="1866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FastAPI backend</a:t>
            </a:r>
          </a:p>
        </p:txBody>
      </p:sp>
      <p:sp>
        <p:nvSpPr>
          <p:cNvPr id="12" name="stage-sub">
            <a:extLst>
              <a:ext uri="{FF2B5EF4-FFF2-40B4-BE49-F238E27FC236}">
                <a16:creationId xmlns:a16="http://schemas.microsoft.com/office/drawing/2014/main" id="{4F0177DE-D6F3-4D08-A2E6-B635DD38A823}"/>
              </a:ext>
            </a:extLst>
          </p:cNvPr>
          <p:cNvSpPr>
            <a:spLocks noGrp="1"/>
          </p:cNvSpPr>
          <p:nvPr/>
        </p:nvSpPr>
        <p:spPr>
          <a:xfrm>
            <a:off x="3638550" y="3238500"/>
            <a:ext cx="18669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Dataset, dashboard, analyst, report, and export routes.</a:t>
            </a:r>
          </a:p>
        </p:txBody>
      </p:sp>
      <p:sp>
        <p:nvSpPr>
          <p:cNvPr id="13" name="stage-box">
            <a:extLst>
              <a:ext uri="{FF2B5EF4-FFF2-40B4-BE49-F238E27FC236}">
                <a16:creationId xmlns:a16="http://schemas.microsoft.com/office/drawing/2014/main" id="{F14D89C7-4F65-4A66-816C-5FF54B6E5F4B}"/>
              </a:ext>
            </a:extLst>
          </p:cNvPr>
          <p:cNvSpPr>
            <a:spLocks noGrp="1"/>
          </p:cNvSpPr>
          <p:nvPr/>
        </p:nvSpPr>
        <p:spPr>
          <a:xfrm>
            <a:off x="6191250" y="2762250"/>
            <a:ext cx="2209800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C8"/>
            </a:solidFill>
            <a:prstDash val="solid"/>
          </a:ln>
        </p:spPr>
      </p:sp>
      <p:sp>
        <p:nvSpPr>
          <p:cNvPr id="14" name="stage-accent">
            <a:extLst>
              <a:ext uri="{FF2B5EF4-FFF2-40B4-BE49-F238E27FC236}">
                <a16:creationId xmlns:a16="http://schemas.microsoft.com/office/drawing/2014/main" id="{D294F16B-EDAC-417B-A9BF-E573BD471E85}"/>
              </a:ext>
            </a:extLst>
          </p:cNvPr>
          <p:cNvSpPr>
            <a:spLocks noGrp="1"/>
          </p:cNvSpPr>
          <p:nvPr/>
        </p:nvSpPr>
        <p:spPr>
          <a:xfrm>
            <a:off x="6191250" y="2762250"/>
            <a:ext cx="2209800" cy="66675"/>
          </a:xfrm>
          <a:prstGeom prst="rect">
            <a:avLst/>
          </a:prstGeom>
          <a:solidFill>
            <a:srgbClr val="F59E0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stage-label">
            <a:extLst>
              <a:ext uri="{FF2B5EF4-FFF2-40B4-BE49-F238E27FC236}">
                <a16:creationId xmlns:a16="http://schemas.microsoft.com/office/drawing/2014/main" id="{3C5671E8-483C-4ABC-BE1B-28B39B8B6914}"/>
              </a:ext>
            </a:extLst>
          </p:cNvPr>
          <p:cNvSpPr>
            <a:spLocks noGrp="1"/>
          </p:cNvSpPr>
          <p:nvPr/>
        </p:nvSpPr>
        <p:spPr>
          <a:xfrm>
            <a:off x="6362700" y="2971800"/>
            <a:ext cx="1866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Services</a:t>
            </a:r>
          </a:p>
        </p:txBody>
      </p:sp>
      <p:sp>
        <p:nvSpPr>
          <p:cNvPr id="16" name="stage-sub">
            <a:extLst>
              <a:ext uri="{FF2B5EF4-FFF2-40B4-BE49-F238E27FC236}">
                <a16:creationId xmlns:a16="http://schemas.microsoft.com/office/drawing/2014/main" id="{3F1BD579-E352-4CE4-864D-517E51277F4A}"/>
              </a:ext>
            </a:extLst>
          </p:cNvPr>
          <p:cNvSpPr>
            <a:spLocks noGrp="1"/>
          </p:cNvSpPr>
          <p:nvPr/>
        </p:nvSpPr>
        <p:spPr>
          <a:xfrm>
            <a:off x="6362700" y="3238500"/>
            <a:ext cx="18669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KPI, charts, insights, domain intelligence, profiling, exports.</a:t>
            </a:r>
          </a:p>
        </p:txBody>
      </p:sp>
      <p:sp>
        <p:nvSpPr>
          <p:cNvPr id="17" name="stage-box">
            <a:extLst>
              <a:ext uri="{FF2B5EF4-FFF2-40B4-BE49-F238E27FC236}">
                <a16:creationId xmlns:a16="http://schemas.microsoft.com/office/drawing/2014/main" id="{C15D269D-0C81-4728-866D-BD8BD03493FA}"/>
              </a:ext>
            </a:extLst>
          </p:cNvPr>
          <p:cNvSpPr>
            <a:spLocks noGrp="1"/>
          </p:cNvSpPr>
          <p:nvPr/>
        </p:nvSpPr>
        <p:spPr>
          <a:xfrm>
            <a:off x="8915400" y="2762250"/>
            <a:ext cx="2209800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C8"/>
            </a:solidFill>
            <a:prstDash val="solid"/>
          </a:ln>
        </p:spPr>
      </p:sp>
      <p:sp>
        <p:nvSpPr>
          <p:cNvPr id="18" name="stage-accent">
            <a:extLst>
              <a:ext uri="{FF2B5EF4-FFF2-40B4-BE49-F238E27FC236}">
                <a16:creationId xmlns:a16="http://schemas.microsoft.com/office/drawing/2014/main" id="{BA6FC1E6-96F8-480D-B85F-78F99F573CE0}"/>
              </a:ext>
            </a:extLst>
          </p:cNvPr>
          <p:cNvSpPr>
            <a:spLocks noGrp="1"/>
          </p:cNvSpPr>
          <p:nvPr/>
        </p:nvSpPr>
        <p:spPr>
          <a:xfrm>
            <a:off x="8915400" y="2762250"/>
            <a:ext cx="2209800" cy="66675"/>
          </a:xfrm>
          <a:prstGeom prst="rect">
            <a:avLst/>
          </a:prstGeom>
          <a:solidFill>
            <a:srgbClr val="10B98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stage-label">
            <a:extLst>
              <a:ext uri="{FF2B5EF4-FFF2-40B4-BE49-F238E27FC236}">
                <a16:creationId xmlns:a16="http://schemas.microsoft.com/office/drawing/2014/main" id="{1C354877-DAAB-442C-A7B5-F9B8043E67A8}"/>
              </a:ext>
            </a:extLst>
          </p:cNvPr>
          <p:cNvSpPr>
            <a:spLocks noGrp="1"/>
          </p:cNvSpPr>
          <p:nvPr/>
        </p:nvSpPr>
        <p:spPr>
          <a:xfrm>
            <a:off x="9086850" y="2971800"/>
            <a:ext cx="1866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Storage</a:t>
            </a:r>
          </a:p>
        </p:txBody>
      </p:sp>
      <p:sp>
        <p:nvSpPr>
          <p:cNvPr id="20" name="stage-sub">
            <a:extLst>
              <a:ext uri="{FF2B5EF4-FFF2-40B4-BE49-F238E27FC236}">
                <a16:creationId xmlns:a16="http://schemas.microsoft.com/office/drawing/2014/main" id="{BA1201A5-7AB2-4DB9-86C0-EDB65D27467C}"/>
              </a:ext>
            </a:extLst>
          </p:cNvPr>
          <p:cNvSpPr>
            <a:spLocks noGrp="1"/>
          </p:cNvSpPr>
          <p:nvPr/>
        </p:nvSpPr>
        <p:spPr>
          <a:xfrm>
            <a:off x="9086850" y="3238500"/>
            <a:ext cx="18669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Local-first upload, processed data, metadata, and report payloads.</a:t>
            </a:r>
          </a:p>
        </p:txBody>
      </p:sp>
      <p:sp>
        <p:nvSpPr>
          <p:cNvPr id="21" name="support-note">
            <a:extLst>
              <a:ext uri="{FF2B5EF4-FFF2-40B4-BE49-F238E27FC236}">
                <a16:creationId xmlns:a16="http://schemas.microsoft.com/office/drawing/2014/main" id="{9045F766-5C97-4A0E-9099-67E462AAAA6A}"/>
              </a:ext>
            </a:extLst>
          </p:cNvPr>
          <p:cNvSpPr>
            <a:spLocks noGrp="1"/>
          </p:cNvSpPr>
          <p:nvPr/>
        </p:nvSpPr>
        <p:spPr>
          <a:xfrm>
            <a:off x="857250" y="4419600"/>
            <a:ext cx="8572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The architecture keeps app structure intact while making future auth, workspaces, connectors, and cloud deployment practical.</a:t>
            </a:r>
          </a:p>
        </p:txBody>
      </p:sp>
      <p:sp>
        <p:nvSpPr>
          <p:cNvPr id="22" name="footer-label">
            <a:extLst>
              <a:ext uri="{FF2B5EF4-FFF2-40B4-BE49-F238E27FC236}">
                <a16:creationId xmlns:a16="http://schemas.microsoft.com/office/drawing/2014/main" id="{C41E4AE4-2088-4D70-9C65-18BD55C02312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4000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AI Analytics SaaS MVP | Sales introduction</a:t>
            </a:r>
          </a:p>
        </p:txBody>
      </p:sp>
      <p:sp>
        <p:nvSpPr>
          <p:cNvPr id="23" name="footer-page">
            <a:extLst>
              <a:ext uri="{FF2B5EF4-FFF2-40B4-BE49-F238E27FC236}">
                <a16:creationId xmlns:a16="http://schemas.microsoft.com/office/drawing/2014/main" id="{7426D045-7331-4B60-B930-C13EFFED6085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4572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780025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ackground">
            <a:extLst>
              <a:ext uri="{FF2B5EF4-FFF2-40B4-BE49-F238E27FC236}">
                <a16:creationId xmlns:a16="http://schemas.microsoft.com/office/drawing/2014/main" id="{56A5991B-BF93-43FB-A988-FFCD64EF107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>
              <a:ext uri="{FF2B5EF4-FFF2-40B4-BE49-F238E27FC236}">
                <a16:creationId xmlns:a16="http://schemas.microsoft.com/office/drawing/2014/main" id="{6B08DDBE-6E5A-49F8-BF84-980FE4335024}"/>
              </a:ext>
            </a:extLst>
          </p:cNvPr>
          <p:cNvSpPr>
            <a:spLocks noGrp="1"/>
          </p:cNvSpPr>
          <p:nvPr/>
        </p:nvSpPr>
        <p:spPr>
          <a:xfrm>
            <a:off x="609600" y="533400"/>
            <a:ext cx="323850" cy="28575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>
              <a:ext uri="{FF2B5EF4-FFF2-40B4-BE49-F238E27FC236}">
                <a16:creationId xmlns:a16="http://schemas.microsoft.com/office/drawing/2014/main" id="{3F35BD16-FDB1-4B45-B2BB-BDF18DDE1E15}"/>
              </a:ext>
            </a:extLst>
          </p:cNvPr>
          <p:cNvSpPr>
            <a:spLocks noGrp="1"/>
          </p:cNvSpPr>
          <p:nvPr/>
        </p:nvSpPr>
        <p:spPr>
          <a:xfrm>
            <a:off x="1047750" y="457200"/>
            <a:ext cx="342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DEMO PATH</a:t>
            </a:r>
          </a:p>
        </p:txBody>
      </p:sp>
      <p:sp>
        <p:nvSpPr>
          <p:cNvPr id="4" name="claim-title">
            <a:extLst>
              <a:ext uri="{FF2B5EF4-FFF2-40B4-BE49-F238E27FC236}">
                <a16:creationId xmlns:a16="http://schemas.microsoft.com/office/drawing/2014/main" id="{35E05A3C-C13B-4AB7-BEB0-0043F8955BCD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762000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9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A pilot demo can prove value in one clean flow.</a:t>
            </a:r>
          </a:p>
        </p:txBody>
      </p:sp>
      <p:sp>
        <p:nvSpPr>
          <p:cNvPr id="5" name="demo-number">
            <a:extLst>
              <a:ext uri="{FF2B5EF4-FFF2-40B4-BE49-F238E27FC236}">
                <a16:creationId xmlns:a16="http://schemas.microsoft.com/office/drawing/2014/main" id="{6A0B4566-7C8E-4BEF-BF46-3E9092D2A7E3}"/>
              </a:ext>
            </a:extLst>
          </p:cNvPr>
          <p:cNvSpPr>
            <a:spLocks noGrp="1"/>
          </p:cNvSpPr>
          <p:nvPr/>
        </p:nvSpPr>
        <p:spPr>
          <a:xfrm>
            <a:off x="876300" y="2476500"/>
            <a:ext cx="495300" cy="495300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9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6" name="stage-box">
            <a:extLst>
              <a:ext uri="{FF2B5EF4-FFF2-40B4-BE49-F238E27FC236}">
                <a16:creationId xmlns:a16="http://schemas.microsoft.com/office/drawing/2014/main" id="{F10E2408-DFD5-492F-8823-9E35F2940FDB}"/>
              </a:ext>
            </a:extLst>
          </p:cNvPr>
          <p:cNvSpPr>
            <a:spLocks noGrp="1"/>
          </p:cNvSpPr>
          <p:nvPr/>
        </p:nvSpPr>
        <p:spPr>
          <a:xfrm>
            <a:off x="876300" y="3257550"/>
            <a:ext cx="2095500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C8"/>
            </a:solidFill>
            <a:prstDash val="solid"/>
          </a:ln>
        </p:spPr>
      </p:sp>
      <p:sp>
        <p:nvSpPr>
          <p:cNvPr id="7" name="stage-accent">
            <a:extLst>
              <a:ext uri="{FF2B5EF4-FFF2-40B4-BE49-F238E27FC236}">
                <a16:creationId xmlns:a16="http://schemas.microsoft.com/office/drawing/2014/main" id="{A1D2A96D-EA37-4E04-8381-6162FAAFF750}"/>
              </a:ext>
            </a:extLst>
          </p:cNvPr>
          <p:cNvSpPr>
            <a:spLocks noGrp="1"/>
          </p:cNvSpPr>
          <p:nvPr/>
        </p:nvSpPr>
        <p:spPr>
          <a:xfrm>
            <a:off x="876300" y="3257550"/>
            <a:ext cx="2095500" cy="66675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stage-label">
            <a:extLst>
              <a:ext uri="{FF2B5EF4-FFF2-40B4-BE49-F238E27FC236}">
                <a16:creationId xmlns:a16="http://schemas.microsoft.com/office/drawing/2014/main" id="{9B1F2C96-B892-4739-9798-F190E976C283}"/>
              </a:ext>
            </a:extLst>
          </p:cNvPr>
          <p:cNvSpPr>
            <a:spLocks noGrp="1"/>
          </p:cNvSpPr>
          <p:nvPr/>
        </p:nvSpPr>
        <p:spPr>
          <a:xfrm>
            <a:off x="1047750" y="3467100"/>
            <a:ext cx="17526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Upload a CSV</a:t>
            </a:r>
          </a:p>
        </p:txBody>
      </p:sp>
      <p:sp>
        <p:nvSpPr>
          <p:cNvPr id="9" name="stage-sub">
            <a:extLst>
              <a:ext uri="{FF2B5EF4-FFF2-40B4-BE49-F238E27FC236}">
                <a16:creationId xmlns:a16="http://schemas.microsoft.com/office/drawing/2014/main" id="{3EF193DC-7FE7-4A2A-96E8-9B03439E468F}"/>
              </a:ext>
            </a:extLst>
          </p:cNvPr>
          <p:cNvSpPr>
            <a:spLocks noGrp="1"/>
          </p:cNvSpPr>
          <p:nvPr/>
        </p:nvSpPr>
        <p:spPr>
          <a:xfrm>
            <a:off x="1047750" y="3733800"/>
            <a:ext cx="17526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Create a dataset record and preview data.</a:t>
            </a:r>
          </a:p>
        </p:txBody>
      </p:sp>
      <p:sp>
        <p:nvSpPr>
          <p:cNvPr id="10" name="demo-number">
            <a:extLst>
              <a:ext uri="{FF2B5EF4-FFF2-40B4-BE49-F238E27FC236}">
                <a16:creationId xmlns:a16="http://schemas.microsoft.com/office/drawing/2014/main" id="{DC0D3F9D-3B1B-4C34-B174-49BB1F4392E2}"/>
              </a:ext>
            </a:extLst>
          </p:cNvPr>
          <p:cNvSpPr>
            <a:spLocks noGrp="1"/>
          </p:cNvSpPr>
          <p:nvPr/>
        </p:nvSpPr>
        <p:spPr>
          <a:xfrm>
            <a:off x="3562350" y="2476500"/>
            <a:ext cx="495300" cy="495300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9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1" name="stage-box">
            <a:extLst>
              <a:ext uri="{FF2B5EF4-FFF2-40B4-BE49-F238E27FC236}">
                <a16:creationId xmlns:a16="http://schemas.microsoft.com/office/drawing/2014/main" id="{861D55F7-8ABF-4D99-A631-DE108E500DA0}"/>
              </a:ext>
            </a:extLst>
          </p:cNvPr>
          <p:cNvSpPr>
            <a:spLocks noGrp="1"/>
          </p:cNvSpPr>
          <p:nvPr/>
        </p:nvSpPr>
        <p:spPr>
          <a:xfrm>
            <a:off x="3562350" y="3257550"/>
            <a:ext cx="2095500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C8"/>
            </a:solidFill>
            <a:prstDash val="solid"/>
          </a:ln>
        </p:spPr>
      </p:sp>
      <p:sp>
        <p:nvSpPr>
          <p:cNvPr id="12" name="stage-accent">
            <a:extLst>
              <a:ext uri="{FF2B5EF4-FFF2-40B4-BE49-F238E27FC236}">
                <a16:creationId xmlns:a16="http://schemas.microsoft.com/office/drawing/2014/main" id="{9700354F-E2A6-44BE-88B6-2DCD5BF3AA85}"/>
              </a:ext>
            </a:extLst>
          </p:cNvPr>
          <p:cNvSpPr>
            <a:spLocks noGrp="1"/>
          </p:cNvSpPr>
          <p:nvPr/>
        </p:nvSpPr>
        <p:spPr>
          <a:xfrm>
            <a:off x="3562350" y="3257550"/>
            <a:ext cx="2095500" cy="66675"/>
          </a:xfrm>
          <a:prstGeom prst="rect">
            <a:avLst/>
          </a:prstGeom>
          <a:solidFill>
            <a:srgbClr val="22D3E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stage-label">
            <a:extLst>
              <a:ext uri="{FF2B5EF4-FFF2-40B4-BE49-F238E27FC236}">
                <a16:creationId xmlns:a16="http://schemas.microsoft.com/office/drawing/2014/main" id="{DB27FC93-DD96-4AFC-90B5-52FB5C8CBC54}"/>
              </a:ext>
            </a:extLst>
          </p:cNvPr>
          <p:cNvSpPr>
            <a:spLocks noGrp="1"/>
          </p:cNvSpPr>
          <p:nvPr/>
        </p:nvSpPr>
        <p:spPr>
          <a:xfrm>
            <a:off x="3733800" y="3467100"/>
            <a:ext cx="17526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Review dashboard</a:t>
            </a:r>
          </a:p>
        </p:txBody>
      </p:sp>
      <p:sp>
        <p:nvSpPr>
          <p:cNvPr id="14" name="stage-sub">
            <a:extLst>
              <a:ext uri="{FF2B5EF4-FFF2-40B4-BE49-F238E27FC236}">
                <a16:creationId xmlns:a16="http://schemas.microsoft.com/office/drawing/2014/main" id="{3913B22C-915E-488A-A95C-9D693F537C84}"/>
              </a:ext>
            </a:extLst>
          </p:cNvPr>
          <p:cNvSpPr>
            <a:spLocks noGrp="1"/>
          </p:cNvSpPr>
          <p:nvPr/>
        </p:nvSpPr>
        <p:spPr>
          <a:xfrm>
            <a:off x="3733800" y="3733800"/>
            <a:ext cx="17526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KPI cards, charts, quality score, and insights.</a:t>
            </a:r>
          </a:p>
        </p:txBody>
      </p:sp>
      <p:sp>
        <p:nvSpPr>
          <p:cNvPr id="15" name="demo-number">
            <a:extLst>
              <a:ext uri="{FF2B5EF4-FFF2-40B4-BE49-F238E27FC236}">
                <a16:creationId xmlns:a16="http://schemas.microsoft.com/office/drawing/2014/main" id="{C79C9E49-540D-48BB-B3B5-3E51A3DF1AE8}"/>
              </a:ext>
            </a:extLst>
          </p:cNvPr>
          <p:cNvSpPr>
            <a:spLocks noGrp="1"/>
          </p:cNvSpPr>
          <p:nvPr/>
        </p:nvSpPr>
        <p:spPr>
          <a:xfrm>
            <a:off x="6248400" y="2476500"/>
            <a:ext cx="495300" cy="495300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9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6" name="stage-box">
            <a:extLst>
              <a:ext uri="{FF2B5EF4-FFF2-40B4-BE49-F238E27FC236}">
                <a16:creationId xmlns:a16="http://schemas.microsoft.com/office/drawing/2014/main" id="{E4FDD78B-8FEC-4090-AC0B-4B812E4C3ECF}"/>
              </a:ext>
            </a:extLst>
          </p:cNvPr>
          <p:cNvSpPr>
            <a:spLocks noGrp="1"/>
          </p:cNvSpPr>
          <p:nvPr/>
        </p:nvSpPr>
        <p:spPr>
          <a:xfrm>
            <a:off x="6248400" y="3257550"/>
            <a:ext cx="2095500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C8"/>
            </a:solidFill>
            <a:prstDash val="solid"/>
          </a:ln>
        </p:spPr>
      </p:sp>
      <p:sp>
        <p:nvSpPr>
          <p:cNvPr id="17" name="stage-accent">
            <a:extLst>
              <a:ext uri="{FF2B5EF4-FFF2-40B4-BE49-F238E27FC236}">
                <a16:creationId xmlns:a16="http://schemas.microsoft.com/office/drawing/2014/main" id="{8E9D463C-8D86-4741-A44B-E2D51E970856}"/>
              </a:ext>
            </a:extLst>
          </p:cNvPr>
          <p:cNvSpPr>
            <a:spLocks noGrp="1"/>
          </p:cNvSpPr>
          <p:nvPr/>
        </p:nvSpPr>
        <p:spPr>
          <a:xfrm>
            <a:off x="6248400" y="3257550"/>
            <a:ext cx="2095500" cy="66675"/>
          </a:xfrm>
          <a:prstGeom prst="rect">
            <a:avLst/>
          </a:prstGeom>
          <a:solidFill>
            <a:srgbClr val="F59E0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stage-label">
            <a:extLst>
              <a:ext uri="{FF2B5EF4-FFF2-40B4-BE49-F238E27FC236}">
                <a16:creationId xmlns:a16="http://schemas.microsoft.com/office/drawing/2014/main" id="{C5383824-9110-44D4-AA68-CA15E067AE2F}"/>
              </a:ext>
            </a:extLst>
          </p:cNvPr>
          <p:cNvSpPr>
            <a:spLocks noGrp="1"/>
          </p:cNvSpPr>
          <p:nvPr/>
        </p:nvSpPr>
        <p:spPr>
          <a:xfrm>
            <a:off x="6419850" y="3467100"/>
            <a:ext cx="17526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Ask questions</a:t>
            </a:r>
          </a:p>
        </p:txBody>
      </p:sp>
      <p:sp>
        <p:nvSpPr>
          <p:cNvPr id="19" name="stage-sub">
            <a:extLst>
              <a:ext uri="{FF2B5EF4-FFF2-40B4-BE49-F238E27FC236}">
                <a16:creationId xmlns:a16="http://schemas.microsoft.com/office/drawing/2014/main" id="{358D158C-948E-4077-92A4-6E9F291F9B22}"/>
              </a:ext>
            </a:extLst>
          </p:cNvPr>
          <p:cNvSpPr>
            <a:spLocks noGrp="1"/>
          </p:cNvSpPr>
          <p:nvPr/>
        </p:nvSpPr>
        <p:spPr>
          <a:xfrm>
            <a:off x="6419850" y="3733800"/>
            <a:ext cx="17526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SQL, DAX, or AI analyst guidance.</a:t>
            </a:r>
          </a:p>
        </p:txBody>
      </p:sp>
      <p:sp>
        <p:nvSpPr>
          <p:cNvPr id="20" name="demo-number">
            <a:extLst>
              <a:ext uri="{FF2B5EF4-FFF2-40B4-BE49-F238E27FC236}">
                <a16:creationId xmlns:a16="http://schemas.microsoft.com/office/drawing/2014/main" id="{73B1E547-9F75-4838-A7F1-815EB9BC9116}"/>
              </a:ext>
            </a:extLst>
          </p:cNvPr>
          <p:cNvSpPr>
            <a:spLocks noGrp="1"/>
          </p:cNvSpPr>
          <p:nvPr/>
        </p:nvSpPr>
        <p:spPr>
          <a:xfrm>
            <a:off x="8934450" y="2476500"/>
            <a:ext cx="495300" cy="495300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9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1" name="stage-box">
            <a:extLst>
              <a:ext uri="{FF2B5EF4-FFF2-40B4-BE49-F238E27FC236}">
                <a16:creationId xmlns:a16="http://schemas.microsoft.com/office/drawing/2014/main" id="{DCC9D238-0E70-4F75-BFB9-EB96CD652304}"/>
              </a:ext>
            </a:extLst>
          </p:cNvPr>
          <p:cNvSpPr>
            <a:spLocks noGrp="1"/>
          </p:cNvSpPr>
          <p:nvPr/>
        </p:nvSpPr>
        <p:spPr>
          <a:xfrm>
            <a:off x="8934450" y="3257550"/>
            <a:ext cx="2095500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C8"/>
            </a:solidFill>
            <a:prstDash val="solid"/>
          </a:ln>
        </p:spPr>
      </p:sp>
      <p:sp>
        <p:nvSpPr>
          <p:cNvPr id="22" name="stage-accent">
            <a:extLst>
              <a:ext uri="{FF2B5EF4-FFF2-40B4-BE49-F238E27FC236}">
                <a16:creationId xmlns:a16="http://schemas.microsoft.com/office/drawing/2014/main" id="{DFEDC83B-D7D2-494C-A1B5-E8A4F7B2FE48}"/>
              </a:ext>
            </a:extLst>
          </p:cNvPr>
          <p:cNvSpPr>
            <a:spLocks noGrp="1"/>
          </p:cNvSpPr>
          <p:nvPr/>
        </p:nvSpPr>
        <p:spPr>
          <a:xfrm>
            <a:off x="8934450" y="3257550"/>
            <a:ext cx="2095500" cy="66675"/>
          </a:xfrm>
          <a:prstGeom prst="rect">
            <a:avLst/>
          </a:prstGeom>
          <a:solidFill>
            <a:srgbClr val="10B98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stage-label">
            <a:extLst>
              <a:ext uri="{FF2B5EF4-FFF2-40B4-BE49-F238E27FC236}">
                <a16:creationId xmlns:a16="http://schemas.microsoft.com/office/drawing/2014/main" id="{AFE31E21-BEB0-4996-9589-BC4BDEEDAEE1}"/>
              </a:ext>
            </a:extLst>
          </p:cNvPr>
          <p:cNvSpPr>
            <a:spLocks noGrp="1"/>
          </p:cNvSpPr>
          <p:nvPr/>
        </p:nvSpPr>
        <p:spPr>
          <a:xfrm>
            <a:off x="9105900" y="3467100"/>
            <a:ext cx="17526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Export package</a:t>
            </a:r>
          </a:p>
        </p:txBody>
      </p:sp>
      <p:sp>
        <p:nvSpPr>
          <p:cNvPr id="24" name="stage-sub">
            <a:extLst>
              <a:ext uri="{FF2B5EF4-FFF2-40B4-BE49-F238E27FC236}">
                <a16:creationId xmlns:a16="http://schemas.microsoft.com/office/drawing/2014/main" id="{5BB8426C-EF5B-41E3-89E7-47159E590F12}"/>
              </a:ext>
            </a:extLst>
          </p:cNvPr>
          <p:cNvSpPr>
            <a:spLocks noGrp="1"/>
          </p:cNvSpPr>
          <p:nvPr/>
        </p:nvSpPr>
        <p:spPr>
          <a:xfrm>
            <a:off x="9105900" y="3733800"/>
            <a:ext cx="17526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Board-ready PDF/PPTX/XLSX with selected visuals.</a:t>
            </a:r>
          </a:p>
        </p:txBody>
      </p:sp>
      <p:sp>
        <p:nvSpPr>
          <p:cNvPr id="25" name="support-note">
            <a:extLst>
              <a:ext uri="{FF2B5EF4-FFF2-40B4-BE49-F238E27FC236}">
                <a16:creationId xmlns:a16="http://schemas.microsoft.com/office/drawing/2014/main" id="{8ED4C167-DDF5-438C-B9A1-40DE149AEA83}"/>
              </a:ext>
            </a:extLst>
          </p:cNvPr>
          <p:cNvSpPr>
            <a:spLocks noGrp="1"/>
          </p:cNvSpPr>
          <p:nvPr/>
        </p:nvSpPr>
        <p:spPr>
          <a:xfrm>
            <a:off x="914400" y="4953000"/>
            <a:ext cx="85725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Pilot promise: use a real buyer dataset, show validated insights, and leave with exportable executive material.</a:t>
            </a:r>
          </a:p>
        </p:txBody>
      </p:sp>
      <p:sp>
        <p:nvSpPr>
          <p:cNvPr id="26" name="footer-label">
            <a:extLst>
              <a:ext uri="{FF2B5EF4-FFF2-40B4-BE49-F238E27FC236}">
                <a16:creationId xmlns:a16="http://schemas.microsoft.com/office/drawing/2014/main" id="{F8E9BD0F-BF55-4B70-85EF-C6774E45C0D7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4000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AI Analytics SaaS MVP | Sales introduction</a:t>
            </a:r>
          </a:p>
        </p:txBody>
      </p:sp>
      <p:sp>
        <p:nvSpPr>
          <p:cNvPr id="27" name="footer-page">
            <a:extLst>
              <a:ext uri="{FF2B5EF4-FFF2-40B4-BE49-F238E27FC236}">
                <a16:creationId xmlns:a16="http://schemas.microsoft.com/office/drawing/2014/main" id="{BC8AB398-38ED-49DE-A26D-97EB37447F43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4572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734519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ackground">
            <a:extLst>
              <a:ext uri="{FF2B5EF4-FFF2-40B4-BE49-F238E27FC236}">
                <a16:creationId xmlns:a16="http://schemas.microsoft.com/office/drawing/2014/main" id="{2324D627-5788-42B0-87FE-5FA613EB722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>
              <a:ext uri="{FF2B5EF4-FFF2-40B4-BE49-F238E27FC236}">
                <a16:creationId xmlns:a16="http://schemas.microsoft.com/office/drawing/2014/main" id="{FA6677AF-33F9-4BB1-826F-75FABEDED381}"/>
              </a:ext>
            </a:extLst>
          </p:cNvPr>
          <p:cNvSpPr>
            <a:spLocks noGrp="1"/>
          </p:cNvSpPr>
          <p:nvPr/>
        </p:nvSpPr>
        <p:spPr>
          <a:xfrm>
            <a:off x="609600" y="533400"/>
            <a:ext cx="323850" cy="28575"/>
          </a:xfrm>
          <a:prstGeom prst="rect">
            <a:avLst/>
          </a:prstGeom>
          <a:solidFill>
            <a:srgbClr val="22D3E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>
              <a:ext uri="{FF2B5EF4-FFF2-40B4-BE49-F238E27FC236}">
                <a16:creationId xmlns:a16="http://schemas.microsoft.com/office/drawing/2014/main" id="{F5EB334C-FE93-453D-990F-A135244EC3E7}"/>
              </a:ext>
            </a:extLst>
          </p:cNvPr>
          <p:cNvSpPr>
            <a:spLocks noGrp="1"/>
          </p:cNvSpPr>
          <p:nvPr/>
        </p:nvSpPr>
        <p:spPr>
          <a:xfrm>
            <a:off x="1047750" y="457200"/>
            <a:ext cx="342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22D3EE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2D3EE"/>
                </a:solidFill>
                <a:latin typeface="Aptos"/>
                <a:ea typeface="Aptos"/>
                <a:cs typeface="Aptos"/>
              </a:rPr>
              <a:t>ROADMAP</a:t>
            </a:r>
          </a:p>
        </p:txBody>
      </p:sp>
      <p:sp>
        <p:nvSpPr>
          <p:cNvPr id="4" name="claim-title">
            <a:extLst>
              <a:ext uri="{FF2B5EF4-FFF2-40B4-BE49-F238E27FC236}">
                <a16:creationId xmlns:a16="http://schemas.microsoft.com/office/drawing/2014/main" id="{D047F2CA-0ECB-4B9A-B3F6-D8E9600D50BD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781050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9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The roadmap moves from MVP workflow to production SaaS.</a:t>
            </a:r>
          </a:p>
        </p:txBody>
      </p:sp>
      <p:sp>
        <p:nvSpPr>
          <p:cNvPr id="5" name="road-line">
            <a:extLst>
              <a:ext uri="{FF2B5EF4-FFF2-40B4-BE49-F238E27FC236}">
                <a16:creationId xmlns:a16="http://schemas.microsoft.com/office/drawing/2014/main" id="{7925AC79-7961-4691-B5E5-3122967AE3D5}"/>
              </a:ext>
            </a:extLst>
          </p:cNvPr>
          <p:cNvSpPr>
            <a:spLocks noGrp="1"/>
          </p:cNvSpPr>
          <p:nvPr/>
        </p:nvSpPr>
        <p:spPr>
          <a:xfrm>
            <a:off x="857250" y="2857500"/>
            <a:ext cx="2095500" cy="19050"/>
          </a:xfrm>
          <a:prstGeom prst="rect">
            <a:avLst/>
          </a:prstGeom>
          <a:solidFill>
            <a:srgbClr val="22D3E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road-dot">
            <a:extLst>
              <a:ext uri="{FF2B5EF4-FFF2-40B4-BE49-F238E27FC236}">
                <a16:creationId xmlns:a16="http://schemas.microsoft.com/office/drawing/2014/main" id="{EA73ACA3-5A29-42D4-8339-A7CE1998D6B4}"/>
              </a:ext>
            </a:extLst>
          </p:cNvPr>
          <p:cNvSpPr>
            <a:spLocks noGrp="1"/>
          </p:cNvSpPr>
          <p:nvPr/>
        </p:nvSpPr>
        <p:spPr>
          <a:xfrm>
            <a:off x="857250" y="2686050"/>
            <a:ext cx="400050" cy="400050"/>
          </a:xfrm>
          <a:prstGeom prst="rect">
            <a:avLst/>
          </a:prstGeom>
          <a:solidFill>
            <a:srgbClr val="22D3E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road-phase">
            <a:extLst>
              <a:ext uri="{FF2B5EF4-FFF2-40B4-BE49-F238E27FC236}">
                <a16:creationId xmlns:a16="http://schemas.microsoft.com/office/drawing/2014/main" id="{CE5D4AA5-0159-4EDB-87A1-98C06BDF7D47}"/>
              </a:ext>
            </a:extLst>
          </p:cNvPr>
          <p:cNvSpPr>
            <a:spLocks noGrp="1"/>
          </p:cNvSpPr>
          <p:nvPr/>
        </p:nvSpPr>
        <p:spPr>
          <a:xfrm>
            <a:off x="857250" y="3295650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Now</a:t>
            </a:r>
          </a:p>
        </p:txBody>
      </p:sp>
      <p:sp>
        <p:nvSpPr>
          <p:cNvPr id="8" name="road-title">
            <a:extLst>
              <a:ext uri="{FF2B5EF4-FFF2-40B4-BE49-F238E27FC236}">
                <a16:creationId xmlns:a16="http://schemas.microsoft.com/office/drawing/2014/main" id="{3534DF62-9C66-4EFD-8BB4-C02C70FA7A0B}"/>
              </a:ext>
            </a:extLst>
          </p:cNvPr>
          <p:cNvSpPr>
            <a:spLocks noGrp="1"/>
          </p:cNvSpPr>
          <p:nvPr/>
        </p:nvSpPr>
        <p:spPr>
          <a:xfrm>
            <a:off x="857250" y="363855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22D3E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2D3EE"/>
                </a:solidFill>
                <a:latin typeface="Aptos"/>
                <a:ea typeface="Aptos"/>
                <a:cs typeface="Aptos"/>
              </a:rPr>
              <a:t>Local-first MVP</a:t>
            </a:r>
          </a:p>
        </p:txBody>
      </p:sp>
      <p:sp>
        <p:nvSpPr>
          <p:cNvPr id="9" name="road-copy">
            <a:extLst>
              <a:ext uri="{FF2B5EF4-FFF2-40B4-BE49-F238E27FC236}">
                <a16:creationId xmlns:a16="http://schemas.microsoft.com/office/drawing/2014/main" id="{535D0F7E-72F5-41B8-BC63-E49B53673D31}"/>
              </a:ext>
            </a:extLst>
          </p:cNvPr>
          <p:cNvSpPr>
            <a:spLocks noGrp="1"/>
          </p:cNvSpPr>
          <p:nvPr/>
        </p:nvSpPr>
        <p:spPr>
          <a:xfrm>
            <a:off x="857250" y="3981450"/>
            <a:ext cx="2095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D8DEE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8DEE9"/>
                </a:solidFill>
                <a:latin typeface="Aptos"/>
                <a:ea typeface="Aptos"/>
                <a:cs typeface="Aptos"/>
              </a:rPr>
              <a:t>Upload, dashboard, analyst logic, exports.</a:t>
            </a:r>
          </a:p>
        </p:txBody>
      </p:sp>
      <p:sp>
        <p:nvSpPr>
          <p:cNvPr id="10" name="road-line">
            <a:extLst>
              <a:ext uri="{FF2B5EF4-FFF2-40B4-BE49-F238E27FC236}">
                <a16:creationId xmlns:a16="http://schemas.microsoft.com/office/drawing/2014/main" id="{A17F54B4-3CD8-4D55-A6FA-B8118203EEA0}"/>
              </a:ext>
            </a:extLst>
          </p:cNvPr>
          <p:cNvSpPr>
            <a:spLocks noGrp="1"/>
          </p:cNvSpPr>
          <p:nvPr/>
        </p:nvSpPr>
        <p:spPr>
          <a:xfrm>
            <a:off x="3524250" y="2857500"/>
            <a:ext cx="2095500" cy="19050"/>
          </a:xfrm>
          <a:prstGeom prst="rect">
            <a:avLst/>
          </a:prstGeom>
          <a:solidFill>
            <a:srgbClr val="22D3E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road-dot">
            <a:extLst>
              <a:ext uri="{FF2B5EF4-FFF2-40B4-BE49-F238E27FC236}">
                <a16:creationId xmlns:a16="http://schemas.microsoft.com/office/drawing/2014/main" id="{CB29A1E4-4036-4476-B4B1-67E2CC8359E2}"/>
              </a:ext>
            </a:extLst>
          </p:cNvPr>
          <p:cNvSpPr>
            <a:spLocks noGrp="1"/>
          </p:cNvSpPr>
          <p:nvPr/>
        </p:nvSpPr>
        <p:spPr>
          <a:xfrm>
            <a:off x="3524250" y="2686050"/>
            <a:ext cx="400050" cy="400050"/>
          </a:xfrm>
          <a:prstGeom prst="rect">
            <a:avLst/>
          </a:prstGeom>
          <a:solidFill>
            <a:srgbClr val="F59E0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road-phase">
            <a:extLst>
              <a:ext uri="{FF2B5EF4-FFF2-40B4-BE49-F238E27FC236}">
                <a16:creationId xmlns:a16="http://schemas.microsoft.com/office/drawing/2014/main" id="{2389E448-E8BC-4BD1-98B5-91AA0F82A396}"/>
              </a:ext>
            </a:extLst>
          </p:cNvPr>
          <p:cNvSpPr>
            <a:spLocks noGrp="1"/>
          </p:cNvSpPr>
          <p:nvPr/>
        </p:nvSpPr>
        <p:spPr>
          <a:xfrm>
            <a:off x="3524250" y="3295650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Next</a:t>
            </a:r>
          </a:p>
        </p:txBody>
      </p:sp>
      <p:sp>
        <p:nvSpPr>
          <p:cNvPr id="13" name="road-title">
            <a:extLst>
              <a:ext uri="{FF2B5EF4-FFF2-40B4-BE49-F238E27FC236}">
                <a16:creationId xmlns:a16="http://schemas.microsoft.com/office/drawing/2014/main" id="{9BC4D45C-A1A8-402F-8EEF-84BCF823A56D}"/>
              </a:ext>
            </a:extLst>
          </p:cNvPr>
          <p:cNvSpPr>
            <a:spLocks noGrp="1"/>
          </p:cNvSpPr>
          <p:nvPr/>
        </p:nvSpPr>
        <p:spPr>
          <a:xfrm>
            <a:off x="3524250" y="363855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SaaS foundation</a:t>
            </a:r>
          </a:p>
        </p:txBody>
      </p:sp>
      <p:sp>
        <p:nvSpPr>
          <p:cNvPr id="14" name="road-copy">
            <a:extLst>
              <a:ext uri="{FF2B5EF4-FFF2-40B4-BE49-F238E27FC236}">
                <a16:creationId xmlns:a16="http://schemas.microsoft.com/office/drawing/2014/main" id="{A0CB0ECF-ECAB-4C11-A56A-C6C7C2AA2A64}"/>
              </a:ext>
            </a:extLst>
          </p:cNvPr>
          <p:cNvSpPr>
            <a:spLocks noGrp="1"/>
          </p:cNvSpPr>
          <p:nvPr/>
        </p:nvSpPr>
        <p:spPr>
          <a:xfrm>
            <a:off x="3524250" y="3981450"/>
            <a:ext cx="2095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D8DEE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8DEE9"/>
                </a:solidFill>
                <a:latin typeface="Aptos"/>
                <a:ea typeface="Aptos"/>
                <a:cs typeface="Aptos"/>
              </a:rPr>
              <a:t>Auth, organizations, saved reports, billing-ready structure.</a:t>
            </a:r>
          </a:p>
        </p:txBody>
      </p:sp>
      <p:sp>
        <p:nvSpPr>
          <p:cNvPr id="15" name="road-line">
            <a:extLst>
              <a:ext uri="{FF2B5EF4-FFF2-40B4-BE49-F238E27FC236}">
                <a16:creationId xmlns:a16="http://schemas.microsoft.com/office/drawing/2014/main" id="{EAEA238B-8396-4B17-B1D1-83EEDE763EED}"/>
              </a:ext>
            </a:extLst>
          </p:cNvPr>
          <p:cNvSpPr>
            <a:spLocks noGrp="1"/>
          </p:cNvSpPr>
          <p:nvPr/>
        </p:nvSpPr>
        <p:spPr>
          <a:xfrm>
            <a:off x="6191250" y="2857500"/>
            <a:ext cx="2095500" cy="19050"/>
          </a:xfrm>
          <a:prstGeom prst="rect">
            <a:avLst/>
          </a:prstGeom>
          <a:solidFill>
            <a:srgbClr val="22D3E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road-dot">
            <a:extLst>
              <a:ext uri="{FF2B5EF4-FFF2-40B4-BE49-F238E27FC236}">
                <a16:creationId xmlns:a16="http://schemas.microsoft.com/office/drawing/2014/main" id="{71CA5B25-9B77-4635-BEFF-20DD50086718}"/>
              </a:ext>
            </a:extLst>
          </p:cNvPr>
          <p:cNvSpPr>
            <a:spLocks noGrp="1"/>
          </p:cNvSpPr>
          <p:nvPr/>
        </p:nvSpPr>
        <p:spPr>
          <a:xfrm>
            <a:off x="6191250" y="2686050"/>
            <a:ext cx="400050" cy="400050"/>
          </a:xfrm>
          <a:prstGeom prst="rect">
            <a:avLst/>
          </a:prstGeom>
          <a:solidFill>
            <a:srgbClr val="10B98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road-phase">
            <a:extLst>
              <a:ext uri="{FF2B5EF4-FFF2-40B4-BE49-F238E27FC236}">
                <a16:creationId xmlns:a16="http://schemas.microsoft.com/office/drawing/2014/main" id="{B2E9DC3D-4384-4161-90B9-3940F70B3D2F}"/>
              </a:ext>
            </a:extLst>
          </p:cNvPr>
          <p:cNvSpPr>
            <a:spLocks noGrp="1"/>
          </p:cNvSpPr>
          <p:nvPr/>
        </p:nvSpPr>
        <p:spPr>
          <a:xfrm>
            <a:off x="6191250" y="3295650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Then</a:t>
            </a:r>
          </a:p>
        </p:txBody>
      </p:sp>
      <p:sp>
        <p:nvSpPr>
          <p:cNvPr id="18" name="road-title">
            <a:extLst>
              <a:ext uri="{FF2B5EF4-FFF2-40B4-BE49-F238E27FC236}">
                <a16:creationId xmlns:a16="http://schemas.microsoft.com/office/drawing/2014/main" id="{960F2EC5-16B4-4EF2-9A1D-C5BE9E27F7DF}"/>
              </a:ext>
            </a:extLst>
          </p:cNvPr>
          <p:cNvSpPr>
            <a:spLocks noGrp="1"/>
          </p:cNvSpPr>
          <p:nvPr/>
        </p:nvSpPr>
        <p:spPr>
          <a:xfrm>
            <a:off x="6191250" y="363855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0B98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0B981"/>
                </a:solidFill>
                <a:latin typeface="Aptos"/>
                <a:ea typeface="Aptos"/>
                <a:cs typeface="Aptos"/>
              </a:rPr>
              <a:t>Data connectors</a:t>
            </a:r>
          </a:p>
        </p:txBody>
      </p:sp>
      <p:sp>
        <p:nvSpPr>
          <p:cNvPr id="19" name="road-copy">
            <a:extLst>
              <a:ext uri="{FF2B5EF4-FFF2-40B4-BE49-F238E27FC236}">
                <a16:creationId xmlns:a16="http://schemas.microsoft.com/office/drawing/2014/main" id="{3410D2B2-B19A-4C72-A38B-7046E4C22580}"/>
              </a:ext>
            </a:extLst>
          </p:cNvPr>
          <p:cNvSpPr>
            <a:spLocks noGrp="1"/>
          </p:cNvSpPr>
          <p:nvPr/>
        </p:nvSpPr>
        <p:spPr>
          <a:xfrm>
            <a:off x="6191250" y="3981450"/>
            <a:ext cx="2095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D8DEE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8DEE9"/>
                </a:solidFill>
                <a:latin typeface="Aptos"/>
                <a:ea typeface="Aptos"/>
                <a:cs typeface="Aptos"/>
              </a:rPr>
              <a:t>Databases, cloud files, scheduled refresh, governed datasets.</a:t>
            </a:r>
          </a:p>
        </p:txBody>
      </p:sp>
      <p:sp>
        <p:nvSpPr>
          <p:cNvPr id="20" name="road-line">
            <a:extLst>
              <a:ext uri="{FF2B5EF4-FFF2-40B4-BE49-F238E27FC236}">
                <a16:creationId xmlns:a16="http://schemas.microsoft.com/office/drawing/2014/main" id="{F2F6771D-BE97-4BD7-AB52-6E52D46DC182}"/>
              </a:ext>
            </a:extLst>
          </p:cNvPr>
          <p:cNvSpPr>
            <a:spLocks noGrp="1"/>
          </p:cNvSpPr>
          <p:nvPr/>
        </p:nvSpPr>
        <p:spPr>
          <a:xfrm>
            <a:off x="8858250" y="2857500"/>
            <a:ext cx="2095500" cy="19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road-dot">
            <a:extLst>
              <a:ext uri="{FF2B5EF4-FFF2-40B4-BE49-F238E27FC236}">
                <a16:creationId xmlns:a16="http://schemas.microsoft.com/office/drawing/2014/main" id="{F1F34B76-EF66-4D17-A159-08AB0F3CFA54}"/>
              </a:ext>
            </a:extLst>
          </p:cNvPr>
          <p:cNvSpPr>
            <a:spLocks noGrp="1"/>
          </p:cNvSpPr>
          <p:nvPr/>
        </p:nvSpPr>
        <p:spPr>
          <a:xfrm>
            <a:off x="8858250" y="2686050"/>
            <a:ext cx="400050" cy="400050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road-phase">
            <a:extLst>
              <a:ext uri="{FF2B5EF4-FFF2-40B4-BE49-F238E27FC236}">
                <a16:creationId xmlns:a16="http://schemas.microsoft.com/office/drawing/2014/main" id="{11FF2DDA-2BA3-42BC-843A-12B4ED5C011B}"/>
              </a:ext>
            </a:extLst>
          </p:cNvPr>
          <p:cNvSpPr>
            <a:spLocks noGrp="1"/>
          </p:cNvSpPr>
          <p:nvPr/>
        </p:nvSpPr>
        <p:spPr>
          <a:xfrm>
            <a:off x="8858250" y="3295650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Scale</a:t>
            </a:r>
          </a:p>
        </p:txBody>
      </p:sp>
      <p:sp>
        <p:nvSpPr>
          <p:cNvPr id="23" name="road-title">
            <a:extLst>
              <a:ext uri="{FF2B5EF4-FFF2-40B4-BE49-F238E27FC236}">
                <a16:creationId xmlns:a16="http://schemas.microsoft.com/office/drawing/2014/main" id="{42ADB4E0-C72C-4F5A-9260-DF9A3DBA91F7}"/>
              </a:ext>
            </a:extLst>
          </p:cNvPr>
          <p:cNvSpPr>
            <a:spLocks noGrp="1"/>
          </p:cNvSpPr>
          <p:nvPr/>
        </p:nvSpPr>
        <p:spPr>
          <a:xfrm>
            <a:off x="8858250" y="363855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Decision intelligence</a:t>
            </a:r>
          </a:p>
        </p:txBody>
      </p:sp>
      <p:sp>
        <p:nvSpPr>
          <p:cNvPr id="24" name="road-copy">
            <a:extLst>
              <a:ext uri="{FF2B5EF4-FFF2-40B4-BE49-F238E27FC236}">
                <a16:creationId xmlns:a16="http://schemas.microsoft.com/office/drawing/2014/main" id="{1B42CDF1-2DEE-46BD-9104-3C7214E3455B}"/>
              </a:ext>
            </a:extLst>
          </p:cNvPr>
          <p:cNvSpPr>
            <a:spLocks noGrp="1"/>
          </p:cNvSpPr>
          <p:nvPr/>
        </p:nvSpPr>
        <p:spPr>
          <a:xfrm>
            <a:off x="8858250" y="3981450"/>
            <a:ext cx="2095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D8DEE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8DEE9"/>
                </a:solidFill>
                <a:latin typeface="Aptos"/>
                <a:ea typeface="Aptos"/>
                <a:cs typeface="Aptos"/>
              </a:rPr>
              <a:t>Forecasting, alerts, collaboration, enterprise controls.</a:t>
            </a:r>
          </a:p>
        </p:txBody>
      </p:sp>
      <p:sp>
        <p:nvSpPr>
          <p:cNvPr id="25" name="support-note">
            <a:extLst>
              <a:ext uri="{FF2B5EF4-FFF2-40B4-BE49-F238E27FC236}">
                <a16:creationId xmlns:a16="http://schemas.microsoft.com/office/drawing/2014/main" id="{0959D0EE-8B53-45D3-8B24-63E3B3BDAC1A}"/>
              </a:ext>
            </a:extLst>
          </p:cNvPr>
          <p:cNvSpPr>
            <a:spLocks noGrp="1"/>
          </p:cNvSpPr>
          <p:nvPr/>
        </p:nvSpPr>
        <p:spPr>
          <a:xfrm>
            <a:off x="857250" y="5105400"/>
            <a:ext cx="790575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D8DEE9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8DEE9"/>
                </a:solidFill>
                <a:latin typeface="Aptos"/>
                <a:ea typeface="Aptos"/>
                <a:cs typeface="Aptos"/>
              </a:rPr>
              <a:t>The current product is demoable today while the architecture leaves room for enterprise-grade growth.</a:t>
            </a:r>
          </a:p>
        </p:txBody>
      </p:sp>
      <p:sp>
        <p:nvSpPr>
          <p:cNvPr id="26" name="footer-label">
            <a:extLst>
              <a:ext uri="{FF2B5EF4-FFF2-40B4-BE49-F238E27FC236}">
                <a16:creationId xmlns:a16="http://schemas.microsoft.com/office/drawing/2014/main" id="{1B4A86C1-BC73-4096-9D1E-887FE328D101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4000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A7B0C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A7B0C0"/>
                </a:solidFill>
                <a:latin typeface="Aptos"/>
                <a:ea typeface="Aptos"/>
                <a:cs typeface="Aptos"/>
              </a:rPr>
              <a:t>AI Analytics SaaS MVP | Sales introduction</a:t>
            </a:r>
          </a:p>
        </p:txBody>
      </p:sp>
      <p:sp>
        <p:nvSpPr>
          <p:cNvPr id="27" name="footer-page">
            <a:extLst>
              <a:ext uri="{FF2B5EF4-FFF2-40B4-BE49-F238E27FC236}">
                <a16:creationId xmlns:a16="http://schemas.microsoft.com/office/drawing/2014/main" id="{C2A091A2-AF30-4EC4-BC42-55FC4C6213D0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4572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A7B0C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A7B0C0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206531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ackground">
            <a:extLst>
              <a:ext uri="{FF2B5EF4-FFF2-40B4-BE49-F238E27FC236}">
                <a16:creationId xmlns:a16="http://schemas.microsoft.com/office/drawing/2014/main" id="{4BC05521-B742-49D4-92C6-9EA35120591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>
              <a:ext uri="{FF2B5EF4-FFF2-40B4-BE49-F238E27FC236}">
                <a16:creationId xmlns:a16="http://schemas.microsoft.com/office/drawing/2014/main" id="{2E5EC992-6101-4D83-947E-D969A836E695}"/>
              </a:ext>
            </a:extLst>
          </p:cNvPr>
          <p:cNvSpPr>
            <a:spLocks noGrp="1"/>
          </p:cNvSpPr>
          <p:nvPr/>
        </p:nvSpPr>
        <p:spPr>
          <a:xfrm>
            <a:off x="609600" y="533400"/>
            <a:ext cx="323850" cy="28575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>
              <a:ext uri="{FF2B5EF4-FFF2-40B4-BE49-F238E27FC236}">
                <a16:creationId xmlns:a16="http://schemas.microsoft.com/office/drawing/2014/main" id="{3756084C-43E6-415E-A713-3A0BE7C072F8}"/>
              </a:ext>
            </a:extLst>
          </p:cNvPr>
          <p:cNvSpPr>
            <a:spLocks noGrp="1"/>
          </p:cNvSpPr>
          <p:nvPr/>
        </p:nvSpPr>
        <p:spPr>
          <a:xfrm>
            <a:off x="1047750" y="457200"/>
            <a:ext cx="342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CALL TO ACTION</a:t>
            </a:r>
          </a:p>
        </p:txBody>
      </p:sp>
      <p:sp>
        <p:nvSpPr>
          <p:cNvPr id="4" name="claim-title">
            <a:extLst>
              <a:ext uri="{FF2B5EF4-FFF2-40B4-BE49-F238E27FC236}">
                <a16:creationId xmlns:a16="http://schemas.microsoft.com/office/drawing/2014/main" id="{3250FEFE-B698-4100-9DD6-E751877DA3A8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838200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9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Start with one dataset, one executive workflow, and one export-ready decision.</a:t>
            </a:r>
          </a:p>
        </p:txBody>
      </p:sp>
      <p:sp>
        <p:nvSpPr>
          <p:cNvPr id="5" name="support-note">
            <a:extLst>
              <a:ext uri="{FF2B5EF4-FFF2-40B4-BE49-F238E27FC236}">
                <a16:creationId xmlns:a16="http://schemas.microsoft.com/office/drawing/2014/main" id="{9261ECBF-A45E-429D-9A52-80AB9B3062D1}"/>
              </a:ext>
            </a:extLst>
          </p:cNvPr>
          <p:cNvSpPr>
            <a:spLocks noGrp="1"/>
          </p:cNvSpPr>
          <p:nvPr/>
        </p:nvSpPr>
        <p:spPr>
          <a:xfrm>
            <a:off x="628650" y="1924050"/>
            <a:ext cx="72390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Best pilot shape: choose a real business dataset, validate the KPI logic, generate a dashboard, ask targeted questions, and export a board-ready package.</a:t>
            </a:r>
          </a:p>
        </p:txBody>
      </p:sp>
      <p:sp>
        <p:nvSpPr>
          <p:cNvPr id="6" name="metric-container">
            <a:extLst>
              <a:ext uri="{FF2B5EF4-FFF2-40B4-BE49-F238E27FC236}">
                <a16:creationId xmlns:a16="http://schemas.microsoft.com/office/drawing/2014/main" id="{2448C1BA-E147-4E3C-ABE7-B0299F3E16D1}"/>
              </a:ext>
            </a:extLst>
          </p:cNvPr>
          <p:cNvSpPr>
            <a:spLocks noGrp="1"/>
          </p:cNvSpPr>
          <p:nvPr/>
        </p:nvSpPr>
        <p:spPr>
          <a:xfrm>
            <a:off x="876300" y="3219450"/>
            <a:ext cx="2857500" cy="12382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C8"/>
            </a:solidFill>
            <a:prstDash val="solid"/>
          </a:ln>
        </p:spPr>
      </p:sp>
      <p:sp>
        <p:nvSpPr>
          <p:cNvPr id="7" name="metric-accent">
            <a:extLst>
              <a:ext uri="{FF2B5EF4-FFF2-40B4-BE49-F238E27FC236}">
                <a16:creationId xmlns:a16="http://schemas.microsoft.com/office/drawing/2014/main" id="{6787817A-3817-4A9D-9459-9EF71DC14814}"/>
              </a:ext>
            </a:extLst>
          </p:cNvPr>
          <p:cNvSpPr>
            <a:spLocks noGrp="1"/>
          </p:cNvSpPr>
          <p:nvPr/>
        </p:nvSpPr>
        <p:spPr>
          <a:xfrm>
            <a:off x="876300" y="3219450"/>
            <a:ext cx="47625" cy="1238250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metric-value">
            <a:extLst>
              <a:ext uri="{FF2B5EF4-FFF2-40B4-BE49-F238E27FC236}">
                <a16:creationId xmlns:a16="http://schemas.microsoft.com/office/drawing/2014/main" id="{4E2A4EFC-F67B-40CF-A6B8-098A915FE656}"/>
              </a:ext>
            </a:extLst>
          </p:cNvPr>
          <p:cNvSpPr>
            <a:spLocks noGrp="1"/>
          </p:cNvSpPr>
          <p:nvPr/>
        </p:nvSpPr>
        <p:spPr>
          <a:xfrm>
            <a:off x="1085850" y="3371850"/>
            <a:ext cx="25146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0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Pilot</a:t>
            </a:r>
          </a:p>
        </p:txBody>
      </p:sp>
      <p:sp>
        <p:nvSpPr>
          <p:cNvPr id="9" name="metric-label">
            <a:extLst>
              <a:ext uri="{FF2B5EF4-FFF2-40B4-BE49-F238E27FC236}">
                <a16:creationId xmlns:a16="http://schemas.microsoft.com/office/drawing/2014/main" id="{B28FE4F3-E935-44D0-8A4C-4C9F2AEB3004}"/>
              </a:ext>
            </a:extLst>
          </p:cNvPr>
          <p:cNvSpPr>
            <a:spLocks noGrp="1"/>
          </p:cNvSpPr>
          <p:nvPr/>
        </p:nvSpPr>
        <p:spPr>
          <a:xfrm>
            <a:off x="1085850" y="3705225"/>
            <a:ext cx="25146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1-2 datasets</a:t>
            </a:r>
          </a:p>
        </p:txBody>
      </p:sp>
      <p:sp>
        <p:nvSpPr>
          <p:cNvPr id="10" name="metric-context">
            <a:extLst>
              <a:ext uri="{FF2B5EF4-FFF2-40B4-BE49-F238E27FC236}">
                <a16:creationId xmlns:a16="http://schemas.microsoft.com/office/drawing/2014/main" id="{F28302FA-F95F-4FC1-9400-85E7C12ED668}"/>
              </a:ext>
            </a:extLst>
          </p:cNvPr>
          <p:cNvSpPr>
            <a:spLocks noGrp="1"/>
          </p:cNvSpPr>
          <p:nvPr/>
        </p:nvSpPr>
        <p:spPr>
          <a:xfrm>
            <a:off x="1085850" y="3943350"/>
            <a:ext cx="25146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Use real data from sales, churn, finance, operations, or healthcare.</a:t>
            </a:r>
          </a:p>
        </p:txBody>
      </p:sp>
      <p:sp>
        <p:nvSpPr>
          <p:cNvPr id="11" name="metric-container">
            <a:extLst>
              <a:ext uri="{FF2B5EF4-FFF2-40B4-BE49-F238E27FC236}">
                <a16:creationId xmlns:a16="http://schemas.microsoft.com/office/drawing/2014/main" id="{CD124D14-2808-45CB-81DD-7E47425F3885}"/>
              </a:ext>
            </a:extLst>
          </p:cNvPr>
          <p:cNvSpPr>
            <a:spLocks noGrp="1"/>
          </p:cNvSpPr>
          <p:nvPr/>
        </p:nvSpPr>
        <p:spPr>
          <a:xfrm>
            <a:off x="4514850" y="3219450"/>
            <a:ext cx="2857500" cy="12382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C8"/>
            </a:solidFill>
            <a:prstDash val="solid"/>
          </a:ln>
        </p:spPr>
      </p:sp>
      <p:sp>
        <p:nvSpPr>
          <p:cNvPr id="12" name="metric-accent">
            <a:extLst>
              <a:ext uri="{FF2B5EF4-FFF2-40B4-BE49-F238E27FC236}">
                <a16:creationId xmlns:a16="http://schemas.microsoft.com/office/drawing/2014/main" id="{E48B6BED-4C78-41A4-A824-26A661CA21F2}"/>
              </a:ext>
            </a:extLst>
          </p:cNvPr>
          <p:cNvSpPr>
            <a:spLocks noGrp="1"/>
          </p:cNvSpPr>
          <p:nvPr/>
        </p:nvSpPr>
        <p:spPr>
          <a:xfrm>
            <a:off x="4514850" y="3219450"/>
            <a:ext cx="47625" cy="1238250"/>
          </a:xfrm>
          <a:prstGeom prst="rect">
            <a:avLst/>
          </a:prstGeom>
          <a:solidFill>
            <a:srgbClr val="10B98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metric-value">
            <a:extLst>
              <a:ext uri="{FF2B5EF4-FFF2-40B4-BE49-F238E27FC236}">
                <a16:creationId xmlns:a16="http://schemas.microsoft.com/office/drawing/2014/main" id="{37816766-780C-4C13-B782-A7E7E3ABAA84}"/>
              </a:ext>
            </a:extLst>
          </p:cNvPr>
          <p:cNvSpPr>
            <a:spLocks noGrp="1"/>
          </p:cNvSpPr>
          <p:nvPr/>
        </p:nvSpPr>
        <p:spPr>
          <a:xfrm>
            <a:off x="4724400" y="3371850"/>
            <a:ext cx="25146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0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Deliver</a:t>
            </a:r>
          </a:p>
        </p:txBody>
      </p:sp>
      <p:sp>
        <p:nvSpPr>
          <p:cNvPr id="14" name="metric-label">
            <a:extLst>
              <a:ext uri="{FF2B5EF4-FFF2-40B4-BE49-F238E27FC236}">
                <a16:creationId xmlns:a16="http://schemas.microsoft.com/office/drawing/2014/main" id="{26BA71EE-F483-472C-81D8-406E78C53C15}"/>
              </a:ext>
            </a:extLst>
          </p:cNvPr>
          <p:cNvSpPr>
            <a:spLocks noGrp="1"/>
          </p:cNvSpPr>
          <p:nvPr/>
        </p:nvSpPr>
        <p:spPr>
          <a:xfrm>
            <a:off x="4724400" y="3705225"/>
            <a:ext cx="25146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0B98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B981"/>
                </a:solidFill>
                <a:latin typeface="Aptos"/>
                <a:ea typeface="Aptos"/>
                <a:cs typeface="Aptos"/>
              </a:rPr>
              <a:t>dashboard + report</a:t>
            </a:r>
          </a:p>
        </p:txBody>
      </p:sp>
      <p:sp>
        <p:nvSpPr>
          <p:cNvPr id="15" name="metric-context">
            <a:extLst>
              <a:ext uri="{FF2B5EF4-FFF2-40B4-BE49-F238E27FC236}">
                <a16:creationId xmlns:a16="http://schemas.microsoft.com/office/drawing/2014/main" id="{51A180C0-60C1-43F2-A850-398DED1B49A7}"/>
              </a:ext>
            </a:extLst>
          </p:cNvPr>
          <p:cNvSpPr>
            <a:spLocks noGrp="1"/>
          </p:cNvSpPr>
          <p:nvPr/>
        </p:nvSpPr>
        <p:spPr>
          <a:xfrm>
            <a:off x="4724400" y="3943350"/>
            <a:ext cx="25146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Show KPIs, charts, quality, insights, and recommendations.</a:t>
            </a:r>
          </a:p>
        </p:txBody>
      </p:sp>
      <p:sp>
        <p:nvSpPr>
          <p:cNvPr id="16" name="metric-container">
            <a:extLst>
              <a:ext uri="{FF2B5EF4-FFF2-40B4-BE49-F238E27FC236}">
                <a16:creationId xmlns:a16="http://schemas.microsoft.com/office/drawing/2014/main" id="{61FF5EDA-73C1-4995-B38B-4ADB67355848}"/>
              </a:ext>
            </a:extLst>
          </p:cNvPr>
          <p:cNvSpPr>
            <a:spLocks noGrp="1"/>
          </p:cNvSpPr>
          <p:nvPr/>
        </p:nvSpPr>
        <p:spPr>
          <a:xfrm>
            <a:off x="8153400" y="3219450"/>
            <a:ext cx="2857500" cy="12382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C8"/>
            </a:solidFill>
            <a:prstDash val="solid"/>
          </a:ln>
        </p:spPr>
      </p:sp>
      <p:sp>
        <p:nvSpPr>
          <p:cNvPr id="17" name="metric-accent">
            <a:extLst>
              <a:ext uri="{FF2B5EF4-FFF2-40B4-BE49-F238E27FC236}">
                <a16:creationId xmlns:a16="http://schemas.microsoft.com/office/drawing/2014/main" id="{C6236232-5F1C-4047-BE00-B9C154399D4C}"/>
              </a:ext>
            </a:extLst>
          </p:cNvPr>
          <p:cNvSpPr>
            <a:spLocks noGrp="1"/>
          </p:cNvSpPr>
          <p:nvPr/>
        </p:nvSpPr>
        <p:spPr>
          <a:xfrm>
            <a:off x="8153400" y="3219450"/>
            <a:ext cx="47625" cy="1238250"/>
          </a:xfrm>
          <a:prstGeom prst="rect">
            <a:avLst/>
          </a:prstGeom>
          <a:solidFill>
            <a:srgbClr val="F59E0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metric-value">
            <a:extLst>
              <a:ext uri="{FF2B5EF4-FFF2-40B4-BE49-F238E27FC236}">
                <a16:creationId xmlns:a16="http://schemas.microsoft.com/office/drawing/2014/main" id="{CD607E7D-6F9F-4897-987A-6AF778172BBB}"/>
              </a:ext>
            </a:extLst>
          </p:cNvPr>
          <p:cNvSpPr>
            <a:spLocks noGrp="1"/>
          </p:cNvSpPr>
          <p:nvPr/>
        </p:nvSpPr>
        <p:spPr>
          <a:xfrm>
            <a:off x="8362950" y="3371850"/>
            <a:ext cx="25146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0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Decide</a:t>
            </a:r>
          </a:p>
        </p:txBody>
      </p:sp>
      <p:sp>
        <p:nvSpPr>
          <p:cNvPr id="19" name="metric-label">
            <a:extLst>
              <a:ext uri="{FF2B5EF4-FFF2-40B4-BE49-F238E27FC236}">
                <a16:creationId xmlns:a16="http://schemas.microsoft.com/office/drawing/2014/main" id="{2E34E883-0E10-4A2F-8277-F4248DED93B1}"/>
              </a:ext>
            </a:extLst>
          </p:cNvPr>
          <p:cNvSpPr>
            <a:spLocks noGrp="1"/>
          </p:cNvSpPr>
          <p:nvPr/>
        </p:nvSpPr>
        <p:spPr>
          <a:xfrm>
            <a:off x="8362950" y="3705225"/>
            <a:ext cx="25146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next SaaS scope</a:t>
            </a:r>
          </a:p>
        </p:txBody>
      </p:sp>
      <p:sp>
        <p:nvSpPr>
          <p:cNvPr id="20" name="metric-context">
            <a:extLst>
              <a:ext uri="{FF2B5EF4-FFF2-40B4-BE49-F238E27FC236}">
                <a16:creationId xmlns:a16="http://schemas.microsoft.com/office/drawing/2014/main" id="{98942158-492B-40ED-B646-AFA14DA4BDFC}"/>
              </a:ext>
            </a:extLst>
          </p:cNvPr>
          <p:cNvSpPr>
            <a:spLocks noGrp="1"/>
          </p:cNvSpPr>
          <p:nvPr/>
        </p:nvSpPr>
        <p:spPr>
          <a:xfrm>
            <a:off x="8362950" y="3943350"/>
            <a:ext cx="25146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Prioritize auth, connectors, collaboration, and deployment.</a:t>
            </a:r>
          </a:p>
        </p:txBody>
      </p:sp>
      <p:sp>
        <p:nvSpPr>
          <p:cNvPr id="21" name="closing-line">
            <a:extLst>
              <a:ext uri="{FF2B5EF4-FFF2-40B4-BE49-F238E27FC236}">
                <a16:creationId xmlns:a16="http://schemas.microsoft.com/office/drawing/2014/main" id="{CFB11BB2-5449-4162-8A58-2E459E94AAA4}"/>
              </a:ext>
            </a:extLst>
          </p:cNvPr>
          <p:cNvSpPr>
            <a:spLocks noGrp="1"/>
          </p:cNvSpPr>
          <p:nvPr/>
        </p:nvSpPr>
        <p:spPr>
          <a:xfrm>
            <a:off x="704850" y="5314950"/>
            <a:ext cx="68580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0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Positioning line: from dashboard visibility to executive decision intelligence.</a:t>
            </a:r>
          </a:p>
        </p:txBody>
      </p:sp>
      <p:sp>
        <p:nvSpPr>
          <p:cNvPr id="22" name="footer-label">
            <a:extLst>
              <a:ext uri="{FF2B5EF4-FFF2-40B4-BE49-F238E27FC236}">
                <a16:creationId xmlns:a16="http://schemas.microsoft.com/office/drawing/2014/main" id="{55B159DF-E465-4EBC-8607-9D997D27F7F3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4000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AI Analytics SaaS MVP | Sales introduction</a:t>
            </a:r>
          </a:p>
        </p:txBody>
      </p:sp>
      <p:sp>
        <p:nvSpPr>
          <p:cNvPr id="23" name="footer-page">
            <a:extLst>
              <a:ext uri="{FF2B5EF4-FFF2-40B4-BE49-F238E27FC236}">
                <a16:creationId xmlns:a16="http://schemas.microsoft.com/office/drawing/2014/main" id="{50FA5163-76D2-413C-944F-CC6858F6BB87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4572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921454917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1089</Words>
  <Application>Microsoft Office PowerPoint</Application>
  <DocSecurity>0</DocSecurity>
  <PresentationFormat>Widescreen</PresentationFormat>
  <Paragraphs>169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amna_007@hotmail.com</cp:lastModifiedBy>
  <cp:revision>1</cp:revision>
  <dcterms:created xsi:type="dcterms:W3CDTF">2026-06-13T17:41:51Z</dcterms:created>
  <dcterms:modified xsi:type="dcterms:W3CDTF">2026-06-13T17:55:33Z</dcterms:modified>
</cp:coreProperties>
</file>